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5" r:id="rId9"/>
    <p:sldId id="271" r:id="rId10"/>
    <p:sldId id="272" r:id="rId11"/>
    <p:sldId id="274" r:id="rId12"/>
    <p:sldId id="360" r:id="rId13"/>
    <p:sldId id="361" r:id="rId14"/>
    <p:sldId id="282" r:id="rId15"/>
    <p:sldId id="286" r:id="rId16"/>
    <p:sldId id="292" r:id="rId17"/>
    <p:sldId id="293" r:id="rId18"/>
    <p:sldId id="295" r:id="rId19"/>
    <p:sldId id="296" r:id="rId20"/>
    <p:sldId id="347" r:id="rId21"/>
    <p:sldId id="345" r:id="rId22"/>
    <p:sldId id="299" r:id="rId23"/>
    <p:sldId id="300" r:id="rId24"/>
    <p:sldId id="301" r:id="rId25"/>
    <p:sldId id="302" r:id="rId26"/>
    <p:sldId id="343" r:id="rId27"/>
    <p:sldId id="344" r:id="rId28"/>
    <p:sldId id="337" r:id="rId29"/>
    <p:sldId id="323" r:id="rId30"/>
    <p:sldId id="331" r:id="rId31"/>
    <p:sldId id="332" r:id="rId32"/>
    <p:sldId id="333" r:id="rId33"/>
    <p:sldId id="349" r:id="rId34"/>
    <p:sldId id="350" r:id="rId35"/>
    <p:sldId id="353" r:id="rId36"/>
    <p:sldId id="338" r:id="rId37"/>
    <p:sldId id="339" r:id="rId38"/>
    <p:sldId id="355" r:id="rId39"/>
    <p:sldId id="306" r:id="rId40"/>
    <p:sldId id="357" r:id="rId41"/>
    <p:sldId id="354" r:id="rId42"/>
    <p:sldId id="356" r:id="rId43"/>
    <p:sldId id="359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E5"/>
    <a:srgbClr val="FEF7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AD95E-CD77-4F68-A55D-8E54D296FB2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6904-B10E-4809-99C6-4CCDCD8DE5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516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16904-B10E-4809-99C6-4CCDCD8DE585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714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61DD57-4200-69FC-4438-22C5F9222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25D35A-1BAC-9121-FBD2-3F8FE7A61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C4C8BD-5EB5-2F02-A87C-9535EB738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406E-BB90-473A-B145-681DF957E96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9F8D02-3FE4-5EA4-F338-02E9DFF4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8ECF0E-D7D5-04AC-39F0-C482E156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22FD-C534-40CC-8A55-BDAFDA891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878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E56E5-5AFA-AD09-58A2-476819067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0EF7FD-EBA6-10AD-F22F-4657E1787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1DCFBD-DC0B-82E5-4270-C3812BDE1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406E-BB90-473A-B145-681DF957E96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5D6969-59FD-F751-EACA-8A9FCDDB7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F06BB8-1C5E-348C-A907-12DAEBF4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22FD-C534-40CC-8A55-BDAFDA891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01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60810-A865-5212-19A3-7D77E816D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6ADBB9-ABD7-2737-C0D3-139F29B21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FE6048-414D-4F29-FB37-C12CCD6B2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406E-BB90-473A-B145-681DF957E96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A834AF-83F1-416E-A055-1F6BF229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89D2AF-8A5C-136B-5557-A76EA0482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22FD-C534-40CC-8A55-BDAFDA891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924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D666C-01A2-7CB6-EB1D-AAC2CB92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69A77A-D324-5B0F-583F-95D474DFC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70BE21-73CC-552D-6A2A-9B46D1965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E9E87E-54EF-D63A-E799-29A7BCFF9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406E-BB90-473A-B145-681DF957E96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979255-2B47-5D52-1600-C603FE96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E437AB-FDE5-3A89-D931-7D925A9B6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22FD-C534-40CC-8A55-BDAFDA891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340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E423D-89D4-7A92-3336-9BBFFDF19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6932F2-0C34-6CB8-5882-2CFDBAE96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14E20B-24AB-D70D-3F14-66A2C5479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41D76F7-0D22-8B30-C9C3-ABAA1B30B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0C85761-1706-4726-A8CD-BEC2E1CA6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830668-3CD4-F130-CF97-9C795774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406E-BB90-473A-B145-681DF957E96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EDBECCC-0393-B7CA-01A6-9614ABC39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D3F3430-888A-2FFC-3624-96613FF7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22FD-C534-40CC-8A55-BDAFDA891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75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66C23-AABD-A982-E532-0C66D3537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C90B429-673E-1151-709F-076E5BB7E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406E-BB90-473A-B145-681DF957E96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CDBCE5-E5A9-9AD4-4547-B697E7AD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4070DB7-D80A-BD68-40B9-D24A1E52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22FD-C534-40CC-8A55-BDAFDA891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1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F2E156-F1CE-3E34-A14D-A0266A341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406E-BB90-473A-B145-681DF957E96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372D8A-C38A-901B-9980-1EF6BBD2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A2A36F-A802-90F3-534C-88A88506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22FD-C534-40CC-8A55-BDAFDA891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369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232D5-2C2C-C447-DDD7-383C08B7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C89E70-344A-A15A-C870-F86CE7F10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C56681-935E-6485-ADD1-AAB3DF92D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23D705-E02A-76D3-E417-73F7B1E32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406E-BB90-473A-B145-681DF957E96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F05964-794B-AFFB-2617-48D17E7A5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8A0205-2988-7828-5B93-10686FA9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22FD-C534-40CC-8A55-BDAFDA891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706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25938-82AC-9512-57AC-7BB52654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BA4ABE-A41E-6F05-2CEA-58B278502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CCF012-5899-789D-5EE2-C504DE715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69EC66-46DC-D69C-9366-BBE28297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406E-BB90-473A-B145-681DF957E96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AC7078-B364-CD8A-5552-8AF74E602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22909F-0392-F6B3-825B-1711A728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22FD-C534-40CC-8A55-BDAFDA891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04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50D8A-AE3F-264A-7D02-2010F6BBC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798C3D5-9CFD-4B28-1500-BE99775F4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0635-5CDD-1B54-EF32-F3DA4224A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406E-BB90-473A-B145-681DF957E96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9AB945-6F8D-A8FA-FCC6-3F74A47D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4AF5AC-8C29-F0FD-FC86-1CA821D0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22FD-C534-40CC-8A55-BDAFDA891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822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A3D1CB-8CB3-6592-FD8A-E5A37EB0D7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892C5C-E6AF-32AD-3D6E-0856DAC32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E5B627-714A-5D2E-D71F-7965E49B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406E-BB90-473A-B145-681DF957E96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D6CD54-6F6C-A2FA-5E24-C7BEDCA3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AC4780-893F-0CD6-17A0-9D00FFDD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22FD-C534-40CC-8A55-BDAFDA891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61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7C3F97B-80A6-9DBD-B131-2CCA07B6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170FAF-F29F-5527-E0F1-0E64FCAB7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309FCC-3425-DF14-6113-22B10837E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6406E-BB90-473A-B145-681DF957E968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C0FA8F-928A-4A5B-D840-6AB83BAA3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B5D28D-1B1B-0E4D-F89A-D8B7A68E9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122FD-C534-40CC-8A55-BDAFDA891C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50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E1BF427-5CF8-9F37-E188-A76F81A7DD06}"/>
              </a:ext>
            </a:extLst>
          </p:cNvPr>
          <p:cNvSpPr txBox="1"/>
          <p:nvPr/>
        </p:nvSpPr>
        <p:spPr>
          <a:xfrm>
            <a:off x="430466" y="400051"/>
            <a:ext cx="61200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dirty="0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Revisão Sistemática e </a:t>
            </a:r>
          </a:p>
          <a:p>
            <a:r>
              <a:rPr lang="pt-BR" sz="6600" b="1" dirty="0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Metanálise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9132640-04A2-81B2-188F-80E5AE324EBD}"/>
              </a:ext>
            </a:extLst>
          </p:cNvPr>
          <p:cNvSpPr/>
          <p:nvPr/>
        </p:nvSpPr>
        <p:spPr>
          <a:xfrm>
            <a:off x="6800850" y="400051"/>
            <a:ext cx="5066594" cy="616077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2A7E9DF3-DB85-DADE-78C1-6A4EB0D6C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467" t="27070" r="6133" b="21720"/>
          <a:stretch>
            <a:fillRect/>
          </a:stretch>
        </p:blipFill>
        <p:spPr>
          <a:xfrm>
            <a:off x="6800850" y="1920240"/>
            <a:ext cx="5052796" cy="3193748"/>
          </a:xfrm>
          <a:prstGeom prst="rect">
            <a:avLst/>
          </a:prstGeom>
          <a:solidFill>
            <a:srgbClr val="FFF2E5"/>
          </a:solidFill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672C606D-F9DD-F6EF-18D1-018C2A99C64F}"/>
              </a:ext>
            </a:extLst>
          </p:cNvPr>
          <p:cNvSpPr txBox="1"/>
          <p:nvPr/>
        </p:nvSpPr>
        <p:spPr>
          <a:xfrm>
            <a:off x="430466" y="6037601"/>
            <a:ext cx="61200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accent2">
                    <a:lumMod val="50000"/>
                  </a:schemeClr>
                </a:solidFill>
                <a:latin typeface="Palatino Linotype" panose="02040502050505030304" pitchFamily="18" charset="0"/>
              </a:rPr>
              <a:t>Timothy Cavazzotto, PhD</a:t>
            </a:r>
          </a:p>
        </p:txBody>
      </p:sp>
    </p:spTree>
    <p:extLst>
      <p:ext uri="{BB962C8B-B14F-4D97-AF65-F5344CB8AC3E}">
        <p14:creationId xmlns:p14="http://schemas.microsoft.com/office/powerpoint/2010/main" val="408816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C4B5F1-FD5D-4733-21AE-3812DD918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533021"/>
            <a:ext cx="8241030" cy="5936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>
                <a:latin typeface="Palatino Linotype" panose="02040502050505030304" pitchFamily="18" charset="0"/>
              </a:rPr>
              <a:t>O DILEMA DO DR. RICARDO: </a:t>
            </a:r>
          </a:p>
          <a:p>
            <a:pPr marL="0" indent="0">
              <a:buNone/>
            </a:pPr>
            <a:r>
              <a:rPr lang="pt-BR" b="1" dirty="0">
                <a:latin typeface="Palatino Linotype" panose="02040502050505030304" pitchFamily="18" charset="0"/>
              </a:rPr>
              <a:t>Quando a ciência contradiz a ciência</a:t>
            </a:r>
          </a:p>
          <a:p>
            <a:pPr marL="0" indent="0">
              <a:buNone/>
            </a:pPr>
            <a:endParaRPr lang="pt-BR" b="1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r>
              <a:rPr lang="pt-BR" b="1" i="1" dirty="0">
                <a:latin typeface="Palatino Linotype" panose="02040502050505030304" pitchFamily="18" charset="0"/>
              </a:rPr>
              <a:t>O Lançamento do </a:t>
            </a:r>
            <a:r>
              <a:rPr lang="pt-BR" b="1" i="1" dirty="0" err="1">
                <a:latin typeface="Palatino Linotype" panose="02040502050505030304" pitchFamily="18" charset="0"/>
              </a:rPr>
              <a:t>Hipotensinol</a:t>
            </a:r>
            <a:endParaRPr lang="pt-BR" b="1" i="1" dirty="0">
              <a:latin typeface="Palatino Linotype" panose="0204050205050503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Palatino Linotype" panose="02040502050505030304" pitchFamily="18" charset="0"/>
              </a:rPr>
              <a:t>Em 2018, os Laboratórios </a:t>
            </a:r>
            <a:r>
              <a:rPr lang="pt-BR" sz="2400" dirty="0" err="1">
                <a:latin typeface="Palatino Linotype" panose="02040502050505030304" pitchFamily="18" charset="0"/>
              </a:rPr>
              <a:t>FarmaTech</a:t>
            </a:r>
            <a:r>
              <a:rPr lang="pt-BR" sz="2400" dirty="0">
                <a:latin typeface="Palatino Linotype" panose="02040502050505030304" pitchFamily="18" charset="0"/>
              </a:rPr>
              <a:t> anunciaram o desenvolvimento do </a:t>
            </a:r>
            <a:r>
              <a:rPr lang="pt-BR" sz="2400" b="1" dirty="0" err="1">
                <a:latin typeface="Palatino Linotype" panose="02040502050505030304" pitchFamily="18" charset="0"/>
              </a:rPr>
              <a:t>Hipotensinol</a:t>
            </a:r>
            <a:r>
              <a:rPr lang="pt-BR" sz="2400" dirty="0">
                <a:latin typeface="Palatino Linotype" panose="02040502050505030304" pitchFamily="18" charset="0"/>
              </a:rPr>
              <a:t>, um novo anti-hipertensivo prometendo revolucionar o tratamento da hipertensão arterial leve a moderada. </a:t>
            </a:r>
          </a:p>
          <a:p>
            <a:pPr marL="0" indent="0" algn="just">
              <a:buNone/>
            </a:pPr>
            <a:r>
              <a:rPr lang="pt-BR" sz="2400" dirty="0">
                <a:latin typeface="Palatino Linotype" panose="02040502050505030304" pitchFamily="18" charset="0"/>
              </a:rPr>
              <a:t>O medicamento promove vasodilatação sem os efeitos colaterais típicos de outras classes de anti-hipertensivos. </a:t>
            </a:r>
          </a:p>
          <a:p>
            <a:pPr marL="0" indent="0" algn="just">
              <a:buNone/>
            </a:pPr>
            <a:r>
              <a:rPr lang="pt-BR" sz="2400" dirty="0">
                <a:latin typeface="Palatino Linotype" panose="02040502050505030304" pitchFamily="18" charset="0"/>
              </a:rPr>
              <a:t>"</a:t>
            </a:r>
            <a:r>
              <a:rPr lang="pt-BR" sz="2400" dirty="0" err="1">
                <a:latin typeface="Palatino Linotype" panose="02040502050505030304" pitchFamily="18" charset="0"/>
              </a:rPr>
              <a:t>Hipotensinol</a:t>
            </a:r>
            <a:r>
              <a:rPr lang="pt-BR" sz="2400" dirty="0">
                <a:latin typeface="Palatino Linotype" panose="02040502050505030304" pitchFamily="18" charset="0"/>
              </a:rPr>
              <a:t> - Seu caminho para uma pressão sob controle". A empresa investiu milhões em ensaios clínicos ao redor do mundo. </a:t>
            </a:r>
          </a:p>
        </p:txBody>
      </p:sp>
      <p:grpSp>
        <p:nvGrpSpPr>
          <p:cNvPr id="8" name="Gráfico 6" descr="Medicina com preenchimento sólido">
            <a:extLst>
              <a:ext uri="{FF2B5EF4-FFF2-40B4-BE49-F238E27FC236}">
                <a16:creationId xmlns:a16="http://schemas.microsoft.com/office/drawing/2014/main" id="{B96ACE46-4FD6-60BD-D8F5-8B06929C1577}"/>
              </a:ext>
            </a:extLst>
          </p:cNvPr>
          <p:cNvGrpSpPr/>
          <p:nvPr/>
        </p:nvGrpSpPr>
        <p:grpSpPr>
          <a:xfrm>
            <a:off x="9593422" y="2871915"/>
            <a:ext cx="1855786" cy="2651124"/>
            <a:chOff x="9673432" y="2860485"/>
            <a:chExt cx="1855786" cy="2651124"/>
          </a:xfrm>
          <a:solidFill>
            <a:srgbClr val="C00000"/>
          </a:solidFill>
        </p:grpSpPr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EB76343E-4270-9C33-0549-B1467305841D}"/>
                </a:ext>
              </a:extLst>
            </p:cNvPr>
            <p:cNvSpPr/>
            <p:nvPr/>
          </p:nvSpPr>
          <p:spPr>
            <a:xfrm>
              <a:off x="9673432" y="2860485"/>
              <a:ext cx="1458118" cy="2386011"/>
            </a:xfrm>
            <a:custGeom>
              <a:avLst/>
              <a:gdLst>
                <a:gd name="connsiteX0" fmla="*/ 1458118 w 1458118"/>
                <a:gd name="connsiteY0" fmla="*/ 1988343 h 2386011"/>
                <a:gd name="connsiteX1" fmla="*/ 1458118 w 1458118"/>
                <a:gd name="connsiteY1" fmla="*/ 1723231 h 2386011"/>
                <a:gd name="connsiteX2" fmla="*/ 331391 w 1458118"/>
                <a:gd name="connsiteY2" fmla="*/ 1723231 h 2386011"/>
                <a:gd name="connsiteX3" fmla="*/ 265112 w 1458118"/>
                <a:gd name="connsiteY3" fmla="*/ 1656953 h 2386011"/>
                <a:gd name="connsiteX4" fmla="*/ 265112 w 1458118"/>
                <a:gd name="connsiteY4" fmla="*/ 994172 h 2386011"/>
                <a:gd name="connsiteX5" fmla="*/ 331391 w 1458118"/>
                <a:gd name="connsiteY5" fmla="*/ 927893 h 2386011"/>
                <a:gd name="connsiteX6" fmla="*/ 1458118 w 1458118"/>
                <a:gd name="connsiteY6" fmla="*/ 927893 h 2386011"/>
                <a:gd name="connsiteX7" fmla="*/ 1458118 w 1458118"/>
                <a:gd name="connsiteY7" fmla="*/ 662781 h 2386011"/>
                <a:gd name="connsiteX8" fmla="*/ 1325562 w 1458118"/>
                <a:gd name="connsiteY8" fmla="*/ 530225 h 2386011"/>
                <a:gd name="connsiteX9" fmla="*/ 1209575 w 1458118"/>
                <a:gd name="connsiteY9" fmla="*/ 530225 h 2386011"/>
                <a:gd name="connsiteX10" fmla="*/ 1193006 w 1458118"/>
                <a:gd name="connsiteY10" fmla="*/ 513655 h 2386011"/>
                <a:gd name="connsiteX11" fmla="*/ 1193006 w 1458118"/>
                <a:gd name="connsiteY11" fmla="*/ 414238 h 2386011"/>
                <a:gd name="connsiteX12" fmla="*/ 1209575 w 1458118"/>
                <a:gd name="connsiteY12" fmla="*/ 397669 h 2386011"/>
                <a:gd name="connsiteX13" fmla="*/ 1292423 w 1458118"/>
                <a:gd name="connsiteY13" fmla="*/ 397669 h 2386011"/>
                <a:gd name="connsiteX14" fmla="*/ 1325562 w 1458118"/>
                <a:gd name="connsiteY14" fmla="*/ 364530 h 2386011"/>
                <a:gd name="connsiteX15" fmla="*/ 1325562 w 1458118"/>
                <a:gd name="connsiteY15" fmla="*/ 132556 h 2386011"/>
                <a:gd name="connsiteX16" fmla="*/ 1193006 w 1458118"/>
                <a:gd name="connsiteY16" fmla="*/ 0 h 2386011"/>
                <a:gd name="connsiteX17" fmla="*/ 265112 w 1458118"/>
                <a:gd name="connsiteY17" fmla="*/ 0 h 2386011"/>
                <a:gd name="connsiteX18" fmla="*/ 132556 w 1458118"/>
                <a:gd name="connsiteY18" fmla="*/ 132556 h 2386011"/>
                <a:gd name="connsiteX19" fmla="*/ 132556 w 1458118"/>
                <a:gd name="connsiteY19" fmla="*/ 364530 h 2386011"/>
                <a:gd name="connsiteX20" fmla="*/ 165695 w 1458118"/>
                <a:gd name="connsiteY20" fmla="*/ 397669 h 2386011"/>
                <a:gd name="connsiteX21" fmla="*/ 248543 w 1458118"/>
                <a:gd name="connsiteY21" fmla="*/ 397669 h 2386011"/>
                <a:gd name="connsiteX22" fmla="*/ 265112 w 1458118"/>
                <a:gd name="connsiteY22" fmla="*/ 414238 h 2386011"/>
                <a:gd name="connsiteX23" fmla="*/ 265112 w 1458118"/>
                <a:gd name="connsiteY23" fmla="*/ 513655 h 2386011"/>
                <a:gd name="connsiteX24" fmla="*/ 248543 w 1458118"/>
                <a:gd name="connsiteY24" fmla="*/ 530225 h 2386011"/>
                <a:gd name="connsiteX25" fmla="*/ 132556 w 1458118"/>
                <a:gd name="connsiteY25" fmla="*/ 530225 h 2386011"/>
                <a:gd name="connsiteX26" fmla="*/ 0 w 1458118"/>
                <a:gd name="connsiteY26" fmla="*/ 662781 h 2386011"/>
                <a:gd name="connsiteX27" fmla="*/ 0 w 1458118"/>
                <a:gd name="connsiteY27" fmla="*/ 2253456 h 2386011"/>
                <a:gd name="connsiteX28" fmla="*/ 132556 w 1458118"/>
                <a:gd name="connsiteY28" fmla="*/ 2386012 h 2386011"/>
                <a:gd name="connsiteX29" fmla="*/ 596503 w 1458118"/>
                <a:gd name="connsiteY29" fmla="*/ 2386012 h 2386011"/>
                <a:gd name="connsiteX30" fmla="*/ 994172 w 1458118"/>
                <a:gd name="connsiteY30" fmla="*/ 1988343 h 2386011"/>
                <a:gd name="connsiteX31" fmla="*/ 1458118 w 1458118"/>
                <a:gd name="connsiteY31" fmla="*/ 1988343 h 2386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58118" h="2386011">
                  <a:moveTo>
                    <a:pt x="1458118" y="1988343"/>
                  </a:moveTo>
                  <a:lnTo>
                    <a:pt x="1458118" y="1723231"/>
                  </a:lnTo>
                  <a:lnTo>
                    <a:pt x="331391" y="1723231"/>
                  </a:lnTo>
                  <a:cubicBezTo>
                    <a:pt x="294938" y="1723231"/>
                    <a:pt x="265112" y="1693406"/>
                    <a:pt x="265112" y="1656953"/>
                  </a:cubicBezTo>
                  <a:lnTo>
                    <a:pt x="265112" y="994172"/>
                  </a:lnTo>
                  <a:cubicBezTo>
                    <a:pt x="265112" y="957719"/>
                    <a:pt x="294938" y="927893"/>
                    <a:pt x="331391" y="927893"/>
                  </a:cubicBezTo>
                  <a:lnTo>
                    <a:pt x="1458118" y="927893"/>
                  </a:lnTo>
                  <a:lnTo>
                    <a:pt x="1458118" y="662781"/>
                  </a:lnTo>
                  <a:cubicBezTo>
                    <a:pt x="1458118" y="589875"/>
                    <a:pt x="1398468" y="530225"/>
                    <a:pt x="1325562" y="530225"/>
                  </a:cubicBezTo>
                  <a:lnTo>
                    <a:pt x="1209575" y="530225"/>
                  </a:lnTo>
                  <a:cubicBezTo>
                    <a:pt x="1199634" y="530225"/>
                    <a:pt x="1193006" y="523597"/>
                    <a:pt x="1193006" y="513655"/>
                  </a:cubicBezTo>
                  <a:lnTo>
                    <a:pt x="1193006" y="414238"/>
                  </a:lnTo>
                  <a:cubicBezTo>
                    <a:pt x="1193006" y="404296"/>
                    <a:pt x="1199634" y="397669"/>
                    <a:pt x="1209575" y="397669"/>
                  </a:cubicBezTo>
                  <a:lnTo>
                    <a:pt x="1292423" y="397669"/>
                  </a:lnTo>
                  <a:cubicBezTo>
                    <a:pt x="1312306" y="397669"/>
                    <a:pt x="1325562" y="384413"/>
                    <a:pt x="1325562" y="364530"/>
                  </a:cubicBezTo>
                  <a:lnTo>
                    <a:pt x="1325562" y="132556"/>
                  </a:lnTo>
                  <a:cubicBezTo>
                    <a:pt x="1325562" y="59650"/>
                    <a:pt x="1265912" y="0"/>
                    <a:pt x="1193006" y="0"/>
                  </a:cubicBezTo>
                  <a:lnTo>
                    <a:pt x="265112" y="0"/>
                  </a:lnTo>
                  <a:cubicBezTo>
                    <a:pt x="192206" y="0"/>
                    <a:pt x="132556" y="59650"/>
                    <a:pt x="132556" y="132556"/>
                  </a:cubicBezTo>
                  <a:lnTo>
                    <a:pt x="132556" y="364530"/>
                  </a:lnTo>
                  <a:cubicBezTo>
                    <a:pt x="132556" y="384413"/>
                    <a:pt x="145812" y="397669"/>
                    <a:pt x="165695" y="397669"/>
                  </a:cubicBezTo>
                  <a:lnTo>
                    <a:pt x="248543" y="397669"/>
                  </a:lnTo>
                  <a:cubicBezTo>
                    <a:pt x="258485" y="397669"/>
                    <a:pt x="265112" y="404296"/>
                    <a:pt x="265112" y="414238"/>
                  </a:cubicBezTo>
                  <a:lnTo>
                    <a:pt x="265112" y="513655"/>
                  </a:lnTo>
                  <a:cubicBezTo>
                    <a:pt x="265112" y="523597"/>
                    <a:pt x="258485" y="530225"/>
                    <a:pt x="248543" y="530225"/>
                  </a:cubicBezTo>
                  <a:lnTo>
                    <a:pt x="132556" y="530225"/>
                  </a:lnTo>
                  <a:cubicBezTo>
                    <a:pt x="59650" y="530225"/>
                    <a:pt x="0" y="589875"/>
                    <a:pt x="0" y="662781"/>
                  </a:cubicBezTo>
                  <a:lnTo>
                    <a:pt x="0" y="2253456"/>
                  </a:lnTo>
                  <a:cubicBezTo>
                    <a:pt x="0" y="2326361"/>
                    <a:pt x="59650" y="2386012"/>
                    <a:pt x="132556" y="2386012"/>
                  </a:cubicBezTo>
                  <a:lnTo>
                    <a:pt x="596503" y="2386012"/>
                  </a:lnTo>
                  <a:cubicBezTo>
                    <a:pt x="596503" y="2167294"/>
                    <a:pt x="775454" y="1988343"/>
                    <a:pt x="994172" y="1988343"/>
                  </a:cubicBezTo>
                  <a:lnTo>
                    <a:pt x="1458118" y="1988343"/>
                  </a:lnTo>
                  <a:close/>
                </a:path>
              </a:pathLst>
            </a:custGeom>
            <a:grpFill/>
            <a:ln w="33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1F51ECBC-EF1D-D34E-EC6F-0709373BFCCD}"/>
                </a:ext>
              </a:extLst>
            </p:cNvPr>
            <p:cNvSpPr/>
            <p:nvPr/>
          </p:nvSpPr>
          <p:spPr>
            <a:xfrm>
              <a:off x="10071100" y="3920935"/>
              <a:ext cx="1060449" cy="530224"/>
            </a:xfrm>
            <a:custGeom>
              <a:avLst/>
              <a:gdLst>
                <a:gd name="connsiteX0" fmla="*/ 0 w 1060449"/>
                <a:gd name="connsiteY0" fmla="*/ 33139 h 530224"/>
                <a:gd name="connsiteX1" fmla="*/ 0 w 1060449"/>
                <a:gd name="connsiteY1" fmla="*/ 497086 h 530224"/>
                <a:gd name="connsiteX2" fmla="*/ 33139 w 1060449"/>
                <a:gd name="connsiteY2" fmla="*/ 530225 h 530224"/>
                <a:gd name="connsiteX3" fmla="*/ 1060450 w 1060449"/>
                <a:gd name="connsiteY3" fmla="*/ 530225 h 530224"/>
                <a:gd name="connsiteX4" fmla="*/ 1060450 w 1060449"/>
                <a:gd name="connsiteY4" fmla="*/ 0 h 530224"/>
                <a:gd name="connsiteX5" fmla="*/ 33139 w 1060449"/>
                <a:gd name="connsiteY5" fmla="*/ 0 h 530224"/>
                <a:gd name="connsiteX6" fmla="*/ 0 w 1060449"/>
                <a:gd name="connsiteY6" fmla="*/ 33139 h 53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0449" h="530224">
                  <a:moveTo>
                    <a:pt x="0" y="33139"/>
                  </a:moveTo>
                  <a:lnTo>
                    <a:pt x="0" y="497086"/>
                  </a:lnTo>
                  <a:cubicBezTo>
                    <a:pt x="0" y="516969"/>
                    <a:pt x="13256" y="530225"/>
                    <a:pt x="33139" y="530225"/>
                  </a:cubicBezTo>
                  <a:lnTo>
                    <a:pt x="1060450" y="530225"/>
                  </a:lnTo>
                  <a:lnTo>
                    <a:pt x="1060450" y="0"/>
                  </a:lnTo>
                  <a:lnTo>
                    <a:pt x="33139" y="0"/>
                  </a:lnTo>
                  <a:cubicBezTo>
                    <a:pt x="13256" y="0"/>
                    <a:pt x="0" y="13256"/>
                    <a:pt x="0" y="33139"/>
                  </a:cubicBezTo>
                  <a:close/>
                </a:path>
              </a:pathLst>
            </a:custGeom>
            <a:grpFill/>
            <a:ln w="330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 dirty="0"/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9D5739E9-A53B-F700-B033-992A3D942E50}"/>
                </a:ext>
              </a:extLst>
            </p:cNvPr>
            <p:cNvSpPr/>
            <p:nvPr/>
          </p:nvSpPr>
          <p:spPr>
            <a:xfrm>
              <a:off x="10402491" y="4981384"/>
              <a:ext cx="1126727" cy="530224"/>
            </a:xfrm>
            <a:custGeom>
              <a:avLst/>
              <a:gdLst>
                <a:gd name="connsiteX0" fmla="*/ 563364 w 1126727"/>
                <a:gd name="connsiteY0" fmla="*/ 397669 h 530224"/>
                <a:gd name="connsiteX1" fmla="*/ 265112 w 1126727"/>
                <a:gd name="connsiteY1" fmla="*/ 397669 h 530224"/>
                <a:gd name="connsiteX2" fmla="*/ 132556 w 1126727"/>
                <a:gd name="connsiteY2" fmla="*/ 265112 h 530224"/>
                <a:gd name="connsiteX3" fmla="*/ 265112 w 1126727"/>
                <a:gd name="connsiteY3" fmla="*/ 132556 h 530224"/>
                <a:gd name="connsiteX4" fmla="*/ 563364 w 1126727"/>
                <a:gd name="connsiteY4" fmla="*/ 132556 h 530224"/>
                <a:gd name="connsiteX5" fmla="*/ 563364 w 1126727"/>
                <a:gd name="connsiteY5" fmla="*/ 397669 h 530224"/>
                <a:gd name="connsiteX6" fmla="*/ 861615 w 1126727"/>
                <a:gd name="connsiteY6" fmla="*/ 0 h 530224"/>
                <a:gd name="connsiteX7" fmla="*/ 265112 w 1126727"/>
                <a:gd name="connsiteY7" fmla="*/ 0 h 530224"/>
                <a:gd name="connsiteX8" fmla="*/ 0 w 1126727"/>
                <a:gd name="connsiteY8" fmla="*/ 265112 h 530224"/>
                <a:gd name="connsiteX9" fmla="*/ 265112 w 1126727"/>
                <a:gd name="connsiteY9" fmla="*/ 530225 h 530224"/>
                <a:gd name="connsiteX10" fmla="*/ 861615 w 1126727"/>
                <a:gd name="connsiteY10" fmla="*/ 530225 h 530224"/>
                <a:gd name="connsiteX11" fmla="*/ 1126728 w 1126727"/>
                <a:gd name="connsiteY11" fmla="*/ 265112 h 530224"/>
                <a:gd name="connsiteX12" fmla="*/ 861615 w 1126727"/>
                <a:gd name="connsiteY12" fmla="*/ 0 h 53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6727" h="530224">
                  <a:moveTo>
                    <a:pt x="563364" y="397669"/>
                  </a:moveTo>
                  <a:lnTo>
                    <a:pt x="265112" y="397669"/>
                  </a:lnTo>
                  <a:cubicBezTo>
                    <a:pt x="192206" y="397669"/>
                    <a:pt x="132556" y="338018"/>
                    <a:pt x="132556" y="265112"/>
                  </a:cubicBezTo>
                  <a:cubicBezTo>
                    <a:pt x="132556" y="192207"/>
                    <a:pt x="192206" y="132556"/>
                    <a:pt x="265112" y="132556"/>
                  </a:cubicBezTo>
                  <a:lnTo>
                    <a:pt x="563364" y="132556"/>
                  </a:lnTo>
                  <a:lnTo>
                    <a:pt x="563364" y="397669"/>
                  </a:lnTo>
                  <a:close/>
                  <a:moveTo>
                    <a:pt x="861615" y="0"/>
                  </a:moveTo>
                  <a:lnTo>
                    <a:pt x="265112" y="0"/>
                  </a:lnTo>
                  <a:cubicBezTo>
                    <a:pt x="119301" y="0"/>
                    <a:pt x="0" y="119301"/>
                    <a:pt x="0" y="265112"/>
                  </a:cubicBezTo>
                  <a:cubicBezTo>
                    <a:pt x="0" y="410924"/>
                    <a:pt x="119301" y="530225"/>
                    <a:pt x="265112" y="530225"/>
                  </a:cubicBezTo>
                  <a:lnTo>
                    <a:pt x="861615" y="530225"/>
                  </a:lnTo>
                  <a:cubicBezTo>
                    <a:pt x="1007427" y="530225"/>
                    <a:pt x="1126728" y="410924"/>
                    <a:pt x="1126728" y="265112"/>
                  </a:cubicBezTo>
                  <a:cubicBezTo>
                    <a:pt x="1126728" y="119301"/>
                    <a:pt x="1007427" y="0"/>
                    <a:pt x="861615" y="0"/>
                  </a:cubicBezTo>
                  <a:close/>
                </a:path>
              </a:pathLst>
            </a:custGeom>
            <a:grpFill/>
            <a:ln w="33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CE6AD35-616D-16B4-9892-06DE69F2A8AA}"/>
              </a:ext>
            </a:extLst>
          </p:cNvPr>
          <p:cNvSpPr txBox="1"/>
          <p:nvPr/>
        </p:nvSpPr>
        <p:spPr>
          <a:xfrm>
            <a:off x="9784513" y="3485610"/>
            <a:ext cx="1075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Hipotensinol</a:t>
            </a:r>
            <a:endParaRPr lang="pt-BR" sz="12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955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ulher idosa em uma consulta médica Vetor de consulta médica cardiologista  | Vetor Premium">
            <a:extLst>
              <a:ext uri="{FF2B5EF4-FFF2-40B4-BE49-F238E27FC236}">
                <a16:creationId xmlns:a16="http://schemas.microsoft.com/office/drawing/2014/main" id="{1A530347-A53A-DFAF-2E37-C586EBF11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545" y="2847975"/>
            <a:ext cx="596265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D925F69-DE12-F672-4E52-8FBF5AC20C39}"/>
              </a:ext>
            </a:extLst>
          </p:cNvPr>
          <p:cNvSpPr txBox="1"/>
          <p:nvPr/>
        </p:nvSpPr>
        <p:spPr>
          <a:xfrm>
            <a:off x="8231504" y="978491"/>
            <a:ext cx="28079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sz="2000" dirty="0">
                <a:latin typeface="Palatino Linotype" panose="02040502050505030304" pitchFamily="18" charset="0"/>
              </a:rPr>
              <a:t>"Doutor, quero tentar um remédio novo. Vi no </a:t>
            </a:r>
            <a:r>
              <a:rPr lang="pt-BR" sz="2000" b="1" i="1" dirty="0">
                <a:latin typeface="Palatino Linotype" panose="02040502050505030304" pitchFamily="18" charset="0"/>
              </a:rPr>
              <a:t>Instagram</a:t>
            </a:r>
            <a:r>
              <a:rPr lang="pt-BR" sz="2000" dirty="0">
                <a:latin typeface="Palatino Linotype" panose="02040502050505030304" pitchFamily="18" charset="0"/>
              </a:rPr>
              <a:t> sobre o </a:t>
            </a:r>
            <a:r>
              <a:rPr lang="pt-BR" sz="2000" b="1" dirty="0" err="1">
                <a:latin typeface="Palatino Linotype" panose="02040502050505030304" pitchFamily="18" charset="0"/>
              </a:rPr>
              <a:t>Hipotensinol</a:t>
            </a:r>
            <a:r>
              <a:rPr lang="pt-BR" sz="2000" dirty="0">
                <a:latin typeface="Palatino Linotype" panose="02040502050505030304" pitchFamily="18" charset="0"/>
              </a:rPr>
              <a:t>..."</a:t>
            </a:r>
          </a:p>
        </p:txBody>
      </p:sp>
      <p:sp>
        <p:nvSpPr>
          <p:cNvPr id="5" name="Balão de Fala: Retângulo 4">
            <a:extLst>
              <a:ext uri="{FF2B5EF4-FFF2-40B4-BE49-F238E27FC236}">
                <a16:creationId xmlns:a16="http://schemas.microsoft.com/office/drawing/2014/main" id="{FF4A6FB7-3AB4-545F-12A9-E0434983BD1E}"/>
              </a:ext>
            </a:extLst>
          </p:cNvPr>
          <p:cNvSpPr/>
          <p:nvPr/>
        </p:nvSpPr>
        <p:spPr>
          <a:xfrm flipH="1">
            <a:off x="7920990" y="572323"/>
            <a:ext cx="3429000" cy="2135777"/>
          </a:xfrm>
          <a:prstGeom prst="wedgeRectCallout">
            <a:avLst>
              <a:gd name="adj1" fmla="val 40500"/>
              <a:gd name="adj2" fmla="val 6357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D332B33A-131B-7C09-3F5C-7059605E6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12" y="572324"/>
            <a:ext cx="6316978" cy="1956054"/>
          </a:xfrm>
          <a:prstGeom prst="wedgeRectCallout">
            <a:avLst>
              <a:gd name="adj1" fmla="val -1472"/>
              <a:gd name="adj2" fmla="val 66727"/>
            </a:avLst>
          </a:prstGeom>
          <a:noFill/>
          <a:ln w="19050">
            <a:solidFill>
              <a:schemeClr val="tx1"/>
            </a:solidFill>
            <a:prstDash val="solid"/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800" dirty="0">
                <a:latin typeface="Palatino Linotype" panose="02040502050505030304" pitchFamily="18" charset="0"/>
              </a:rPr>
              <a:t>  </a:t>
            </a:r>
            <a:br>
              <a:rPr lang="pt-BR" sz="1800" dirty="0">
                <a:latin typeface="Palatino Linotype" panose="02040502050505030304" pitchFamily="18" charset="0"/>
              </a:rPr>
            </a:br>
            <a:r>
              <a:rPr lang="pt-BR" sz="1800" dirty="0">
                <a:latin typeface="Palatino Linotype" panose="02040502050505030304" pitchFamily="18" charset="0"/>
              </a:rPr>
              <a:t>Dona Maria (58 anos) a senhora esta com Pressão arterial 152/96 mmHg (média de 3 medidas). Essa foi a primeira vez que  senhora apresenta resultados consistentemente elevados o diagnóstico é de Hipertensão Arterial. Como a senhora não possui comorbidades relevantes </a:t>
            </a:r>
            <a:r>
              <a:rPr lang="pt-BR" sz="1800" i="1" dirty="0">
                <a:latin typeface="Palatino Linotype" panose="02040502050505030304" pitchFamily="18" charset="0"/>
              </a:rPr>
              <a:t>Podemos tentar um tratamento com menos efeitos adversos!</a:t>
            </a:r>
          </a:p>
          <a:p>
            <a:pPr algn="just"/>
            <a:endParaRPr lang="pt-BR" sz="1800" dirty="0">
              <a:latin typeface="Palatino Linotype" panose="0204050205050503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FF2602-04F0-0834-171E-EBEB82EE7517}"/>
              </a:ext>
            </a:extLst>
          </p:cNvPr>
          <p:cNvSpPr txBox="1"/>
          <p:nvPr/>
        </p:nvSpPr>
        <p:spPr>
          <a:xfrm>
            <a:off x="346712" y="266451"/>
            <a:ext cx="21717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sz="1400" i="1" dirty="0">
                <a:solidFill>
                  <a:schemeClr val="accent1">
                    <a:lumMod val="50000"/>
                  </a:schemeClr>
                </a:solidFill>
              </a:rPr>
              <a:t>Dr. Ricardo, cardiologista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A901345-B00C-E9AC-F85A-05C4EF3C7221}"/>
              </a:ext>
            </a:extLst>
          </p:cNvPr>
          <p:cNvSpPr txBox="1"/>
          <p:nvPr/>
        </p:nvSpPr>
        <p:spPr>
          <a:xfrm>
            <a:off x="9288782" y="264544"/>
            <a:ext cx="21717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sz="1400" i="1" dirty="0">
                <a:solidFill>
                  <a:schemeClr val="accent1">
                    <a:lumMod val="50000"/>
                  </a:schemeClr>
                </a:solidFill>
              </a:rPr>
              <a:t>Dona Maria, Aposentada</a:t>
            </a:r>
          </a:p>
        </p:txBody>
      </p:sp>
    </p:spTree>
    <p:extLst>
      <p:ext uri="{BB962C8B-B14F-4D97-AF65-F5344CB8AC3E}">
        <p14:creationId xmlns:p14="http://schemas.microsoft.com/office/powerpoint/2010/main" val="2572979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3CB16A-0103-4B38-AD08-E5C6DFAF3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2218248"/>
            <a:ext cx="5775960" cy="4401205"/>
          </a:xfrm>
          <a:solidFill>
            <a:schemeClr val="bg2">
              <a:lumMod val="90000"/>
            </a:schemeClr>
          </a:solidFill>
          <a:ln w="28575">
            <a:solidFill>
              <a:schemeClr val="bg2">
                <a:lumMod val="50000"/>
              </a:schemeClr>
            </a:solidFill>
            <a:prstDash val="sysDash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>
                <a:latin typeface="Palatino Linotype" panose="02040502050505030304" pitchFamily="18" charset="0"/>
              </a:rPr>
              <a:t>📄 Silva et al. (2019) - Revista Brasileira de Cardiologia</a:t>
            </a:r>
          </a:p>
          <a:p>
            <a:pPr marL="0" indent="0">
              <a:buNone/>
            </a:pPr>
            <a:r>
              <a:rPr lang="pt-BR" sz="2000" i="1" dirty="0">
                <a:latin typeface="Palatino Linotype" panose="02040502050505030304" pitchFamily="18" charset="0"/>
              </a:rPr>
              <a:t>"Efeito do </a:t>
            </a:r>
            <a:r>
              <a:rPr lang="pt-BR" sz="2000" i="1" dirty="0" err="1">
                <a:latin typeface="Palatino Linotype" panose="02040502050505030304" pitchFamily="18" charset="0"/>
              </a:rPr>
              <a:t>Hipotensinol</a:t>
            </a:r>
            <a:r>
              <a:rPr lang="pt-BR" sz="2000" i="1" dirty="0">
                <a:latin typeface="Palatino Linotype" panose="02040502050505030304" pitchFamily="18" charset="0"/>
              </a:rPr>
              <a:t> na Redução da Pressão Arterial em Adultos com Hipertensão Leve: Um Ensaio Clínico Randomizado"</a:t>
            </a:r>
            <a:endParaRPr lang="pt-BR" sz="20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r>
              <a:rPr lang="pt-BR" sz="2000" dirty="0">
                <a:latin typeface="Palatino Linotype" panose="02040502050505030304" pitchFamily="18" charset="0"/>
              </a:rPr>
              <a:t>✅ Ensaio clínico randomizado duplo-cego</a:t>
            </a:r>
          </a:p>
          <a:p>
            <a:pPr marL="0" indent="0">
              <a:buNone/>
            </a:pPr>
            <a:r>
              <a:rPr lang="pt-BR" sz="2000" dirty="0">
                <a:latin typeface="Palatino Linotype" panose="02040502050505030304" pitchFamily="18" charset="0"/>
              </a:rPr>
              <a:t>✅ 120 pacientes com hipertensão</a:t>
            </a:r>
          </a:p>
          <a:p>
            <a:pPr marL="0" indent="0">
              <a:buNone/>
            </a:pPr>
            <a:r>
              <a:rPr lang="pt-BR" sz="2000" dirty="0">
                <a:latin typeface="Palatino Linotype" panose="02040502050505030304" pitchFamily="18" charset="0"/>
              </a:rPr>
              <a:t>✅ </a:t>
            </a:r>
            <a:r>
              <a:rPr lang="pt-BR" sz="2000" b="1" dirty="0">
                <a:latin typeface="Palatino Linotype" panose="02040502050505030304" pitchFamily="18" charset="0"/>
              </a:rPr>
              <a:t>Resultado:</a:t>
            </a:r>
            <a:r>
              <a:rPr lang="pt-BR" sz="2000" dirty="0">
                <a:latin typeface="Palatino Linotype" panose="02040502050505030304" pitchFamily="18" charset="0"/>
              </a:rPr>
              <a:t> 63% dos pacientes normalizaram a PA </a:t>
            </a:r>
            <a:r>
              <a:rPr lang="pt-BR" sz="2000" dirty="0" err="1">
                <a:latin typeface="Palatino Linotype" panose="02040502050505030304" pitchFamily="18" charset="0"/>
              </a:rPr>
              <a:t>vs</a:t>
            </a:r>
            <a:r>
              <a:rPr lang="pt-BR" sz="2000" dirty="0">
                <a:latin typeface="Palatino Linotype" panose="02040502050505030304" pitchFamily="18" charset="0"/>
              </a:rPr>
              <a:t> 20% no placebo </a:t>
            </a:r>
          </a:p>
          <a:p>
            <a:pPr marL="0" indent="0">
              <a:buNone/>
            </a:pPr>
            <a:r>
              <a:rPr lang="pt-BR" sz="2000" dirty="0">
                <a:latin typeface="Palatino Linotype" panose="02040502050505030304" pitchFamily="18" charset="0"/>
              </a:rPr>
              <a:t>✅ Redução de 15 mmHg na pressão sistólica</a:t>
            </a:r>
          </a:p>
          <a:p>
            <a:pPr marL="0" indent="0">
              <a:buNone/>
            </a:pPr>
            <a:r>
              <a:rPr lang="pt-BR" sz="2000" dirty="0">
                <a:latin typeface="Palatino Linotype" panose="02040502050505030304" pitchFamily="18" charset="0"/>
              </a:rPr>
              <a:t>✅ Poucos eventos adversos</a:t>
            </a:r>
          </a:p>
          <a:p>
            <a:pPr marL="0" indent="0">
              <a:buNone/>
            </a:pPr>
            <a:endParaRPr lang="pt-BR" sz="2000" dirty="0">
              <a:latin typeface="Palatino Linotype" panose="0204050205050503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B61E08-D189-78C8-28E6-CC5D49D3A3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00" t="39327" r="46720" b="50241"/>
          <a:stretch>
            <a:fillRect/>
          </a:stretch>
        </p:blipFill>
        <p:spPr>
          <a:xfrm>
            <a:off x="320040" y="502921"/>
            <a:ext cx="6620022" cy="105624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313072D-CDC6-F14D-93D7-1B34686E0852}"/>
              </a:ext>
            </a:extLst>
          </p:cNvPr>
          <p:cNvSpPr txBox="1"/>
          <p:nvPr/>
        </p:nvSpPr>
        <p:spPr>
          <a:xfrm>
            <a:off x="6217920" y="2218249"/>
            <a:ext cx="5775960" cy="4401205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2">
                <a:lumMod val="50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pt-BR" sz="2000" b="1" dirty="0">
                <a:latin typeface="Palatino Linotype" panose="02040502050505030304" pitchFamily="18" charset="0"/>
              </a:rPr>
              <a:t>📄 Al-Rahman et al. (2019) - Saudi Medical </a:t>
            </a:r>
            <a:r>
              <a:rPr lang="pt-BR" sz="2000" b="1" dirty="0" err="1">
                <a:latin typeface="Palatino Linotype" panose="02040502050505030304" pitchFamily="18" charset="0"/>
              </a:rPr>
              <a:t>Journal</a:t>
            </a:r>
            <a:endParaRPr lang="pt-BR" sz="2000" b="1" dirty="0">
              <a:latin typeface="Palatino Linotype" panose="02040502050505030304" pitchFamily="18" charset="0"/>
            </a:endParaRPr>
          </a:p>
          <a:p>
            <a:r>
              <a:rPr lang="pt-BR" sz="2000" i="1" dirty="0">
                <a:latin typeface="Palatino Linotype" panose="02040502050505030304" pitchFamily="18" charset="0"/>
              </a:rPr>
              <a:t>"Avaliação da Eficácia Anti-hipertensiva do </a:t>
            </a:r>
            <a:r>
              <a:rPr lang="pt-BR" sz="2000" i="1" dirty="0" err="1">
                <a:latin typeface="Palatino Linotype" panose="02040502050505030304" pitchFamily="18" charset="0"/>
              </a:rPr>
              <a:t>Hipotensinol</a:t>
            </a:r>
            <a:r>
              <a:rPr lang="pt-BR" sz="2000" i="1" dirty="0">
                <a:latin typeface="Palatino Linotype" panose="02040502050505030304" pitchFamily="18" charset="0"/>
              </a:rPr>
              <a:t> em Adultos: Estudo Randomizado Controlado"</a:t>
            </a:r>
            <a:endParaRPr lang="pt-BR" sz="2000" dirty="0">
              <a:latin typeface="Palatino Linotype" panose="02040502050505030304" pitchFamily="18" charset="0"/>
            </a:endParaRPr>
          </a:p>
          <a:p>
            <a:r>
              <a:rPr lang="pt-BR" sz="2000" dirty="0">
                <a:latin typeface="Palatino Linotype" panose="02040502050505030304" pitchFamily="18" charset="0"/>
              </a:rPr>
              <a:t>✅ Ensaio clínico randomizado duplo-cego (metodologia similar)</a:t>
            </a:r>
          </a:p>
          <a:p>
            <a:r>
              <a:rPr lang="pt-BR" sz="2000" dirty="0">
                <a:latin typeface="Palatino Linotype" panose="02040502050505030304" pitchFamily="18" charset="0"/>
              </a:rPr>
              <a:t>✅ 75 pacientes com hipertensão</a:t>
            </a:r>
          </a:p>
          <a:p>
            <a:r>
              <a:rPr lang="pt-BR" sz="2000" dirty="0">
                <a:latin typeface="Palatino Linotype" panose="02040502050505030304" pitchFamily="18" charset="0"/>
              </a:rPr>
              <a:t>❌ </a:t>
            </a:r>
            <a:r>
              <a:rPr lang="pt-BR" sz="2000" b="1" dirty="0">
                <a:latin typeface="Palatino Linotype" panose="02040502050505030304" pitchFamily="18" charset="0"/>
              </a:rPr>
              <a:t>Resultado:</a:t>
            </a:r>
            <a:r>
              <a:rPr lang="pt-BR" sz="2000" dirty="0">
                <a:latin typeface="Palatino Linotype" panose="02040502050505030304" pitchFamily="18" charset="0"/>
              </a:rPr>
              <a:t> 37% normalizaram PA </a:t>
            </a:r>
            <a:r>
              <a:rPr lang="pt-BR" sz="2000" dirty="0" err="1">
                <a:latin typeface="Palatino Linotype" panose="02040502050505030304" pitchFamily="18" charset="0"/>
              </a:rPr>
              <a:t>vs</a:t>
            </a:r>
            <a:r>
              <a:rPr lang="pt-BR" sz="2000" dirty="0">
                <a:latin typeface="Palatino Linotype" panose="02040502050505030304" pitchFamily="18" charset="0"/>
              </a:rPr>
              <a:t> 41% no placebo </a:t>
            </a:r>
          </a:p>
          <a:p>
            <a:r>
              <a:rPr lang="pt-BR" sz="2000" dirty="0">
                <a:latin typeface="Palatino Linotype" panose="02040502050505030304" pitchFamily="18" charset="0"/>
              </a:rPr>
              <a:t>❌ Diferença de apenas +1 mmHg (não significativo)</a:t>
            </a:r>
          </a:p>
          <a:p>
            <a:r>
              <a:rPr lang="pt-BR" sz="2000" dirty="0">
                <a:latin typeface="Palatino Linotype" panose="02040502050505030304" pitchFamily="18" charset="0"/>
              </a:rPr>
              <a:t>⚠️ Taxa de eventos adversos de 29% (maior que controle)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EDCC18F-B947-0637-D80A-45761411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00" t="28397" r="66731" b="59205"/>
          <a:stretch>
            <a:fillRect/>
          </a:stretch>
        </p:blipFill>
        <p:spPr>
          <a:xfrm>
            <a:off x="9454083" y="502921"/>
            <a:ext cx="2539797" cy="105624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0A7EBD7-7517-EC7C-8AF1-39024FE4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078" t="39327" r="17420" b="50241"/>
          <a:stretch>
            <a:fillRect/>
          </a:stretch>
        </p:blipFill>
        <p:spPr>
          <a:xfrm>
            <a:off x="6682153" y="502921"/>
            <a:ext cx="2790094" cy="105624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623B34A-1204-273A-4C02-6BDC59015511}"/>
              </a:ext>
            </a:extLst>
          </p:cNvPr>
          <p:cNvSpPr txBox="1"/>
          <p:nvPr/>
        </p:nvSpPr>
        <p:spPr>
          <a:xfrm>
            <a:off x="1222540" y="1695028"/>
            <a:ext cx="3970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err="1">
                <a:latin typeface="Palatino Linotype" panose="02040502050505030304" pitchFamily="18" charset="0"/>
              </a:rPr>
              <a:t>Hipotensinol</a:t>
            </a:r>
            <a:r>
              <a:rPr lang="pt-BR" sz="2800" b="1" dirty="0">
                <a:latin typeface="Palatino Linotype" panose="02040502050505030304" pitchFamily="18" charset="0"/>
              </a:rPr>
              <a:t> Funciona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1CD99D7-7FCA-ED6D-77CC-DA685B875901}"/>
              </a:ext>
            </a:extLst>
          </p:cNvPr>
          <p:cNvSpPr txBox="1"/>
          <p:nvPr/>
        </p:nvSpPr>
        <p:spPr>
          <a:xfrm>
            <a:off x="6735700" y="1695028"/>
            <a:ext cx="4740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err="1">
                <a:latin typeface="Palatino Linotype" panose="02040502050505030304" pitchFamily="18" charset="0"/>
              </a:rPr>
              <a:t>Hipotensinol</a:t>
            </a:r>
            <a:r>
              <a:rPr lang="pt-BR" sz="2800" b="1" dirty="0">
                <a:latin typeface="Palatino Linotype" panose="02040502050505030304" pitchFamily="18" charset="0"/>
              </a:rPr>
              <a:t> </a:t>
            </a:r>
            <a:r>
              <a:rPr lang="pt-BR" sz="28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Não</a:t>
            </a:r>
            <a:r>
              <a:rPr lang="pt-BR" sz="2800" b="1" dirty="0">
                <a:latin typeface="Palatino Linotype" panose="02040502050505030304" pitchFamily="18" charset="0"/>
              </a:rPr>
              <a:t> Funciona</a:t>
            </a:r>
          </a:p>
        </p:txBody>
      </p:sp>
    </p:spTree>
    <p:extLst>
      <p:ext uri="{BB962C8B-B14F-4D97-AF65-F5344CB8AC3E}">
        <p14:creationId xmlns:p14="http://schemas.microsoft.com/office/powerpoint/2010/main" val="496489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B56AA2F1-1780-1EFE-B2D5-C558782F81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4031007"/>
              </p:ext>
            </p:extLst>
          </p:nvPr>
        </p:nvGraphicFramePr>
        <p:xfrm>
          <a:off x="657225" y="1853817"/>
          <a:ext cx="1087755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75510">
                  <a:extLst>
                    <a:ext uri="{9D8B030D-6E8A-4147-A177-3AD203B41FA5}">
                      <a16:colId xmlns:a16="http://schemas.microsoft.com/office/drawing/2014/main" val="862750841"/>
                    </a:ext>
                  </a:extLst>
                </a:gridCol>
                <a:gridCol w="2175510">
                  <a:extLst>
                    <a:ext uri="{9D8B030D-6E8A-4147-A177-3AD203B41FA5}">
                      <a16:colId xmlns:a16="http://schemas.microsoft.com/office/drawing/2014/main" val="282592573"/>
                    </a:ext>
                  </a:extLst>
                </a:gridCol>
                <a:gridCol w="2175510">
                  <a:extLst>
                    <a:ext uri="{9D8B030D-6E8A-4147-A177-3AD203B41FA5}">
                      <a16:colId xmlns:a16="http://schemas.microsoft.com/office/drawing/2014/main" val="1731274536"/>
                    </a:ext>
                  </a:extLst>
                </a:gridCol>
                <a:gridCol w="2175510">
                  <a:extLst>
                    <a:ext uri="{9D8B030D-6E8A-4147-A177-3AD203B41FA5}">
                      <a16:colId xmlns:a16="http://schemas.microsoft.com/office/drawing/2014/main" val="948743372"/>
                    </a:ext>
                  </a:extLst>
                </a:gridCol>
                <a:gridCol w="2175510">
                  <a:extLst>
                    <a:ext uri="{9D8B030D-6E8A-4147-A177-3AD203B41FA5}">
                      <a16:colId xmlns:a16="http://schemas.microsoft.com/office/drawing/2014/main" val="1347942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latin typeface="Palatino Linotype" panose="02040502050505030304" pitchFamily="18" charset="0"/>
                        </a:rPr>
                        <a:t>Estudo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latin typeface="Palatino Linotype" panose="02040502050505030304" pitchFamily="18" charset="0"/>
                        </a:rPr>
                        <a:t>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latin typeface="Palatino Linotype" panose="02040502050505030304" pitchFamily="18" charset="0"/>
                        </a:rPr>
                        <a:t>País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latin typeface="Palatino Linotype" panose="02040502050505030304" pitchFamily="18" charset="0"/>
                        </a:rPr>
                        <a:t>Resultado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latin typeface="Palatino Linotype" panose="02040502050505030304" pitchFamily="18" charset="0"/>
                        </a:rPr>
                        <a:t>Conclusão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63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Silva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Brasil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RR=3,17 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latin typeface="Palatino Linotype" panose="02040502050505030304" pitchFamily="18" charset="0"/>
                        </a:rPr>
                        <a:t>FUNCIONA</a:t>
                      </a:r>
                      <a:endParaRPr lang="pt-BR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5227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Johnson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EUA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RR=3,47 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latin typeface="Palatino Linotype" panose="02040502050505030304" pitchFamily="18" charset="0"/>
                        </a:rPr>
                        <a:t>FUNCIONA</a:t>
                      </a:r>
                      <a:endParaRPr lang="pt-BR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098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Zhang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China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RR=2,58 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latin typeface="Palatino Linotype" panose="02040502050505030304" pitchFamily="18" charset="0"/>
                        </a:rPr>
                        <a:t>FUNCIONA</a:t>
                      </a:r>
                      <a:endParaRPr lang="pt-BR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515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Martinez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Espanha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RR=1,33 ⚠️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latin typeface="Palatino Linotype" panose="02040502050505030304" pitchFamily="18" charset="0"/>
                        </a:rPr>
                        <a:t>INCERTO</a:t>
                      </a:r>
                      <a:endParaRPr lang="pt-BR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687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Kowalski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Polônia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RR=1,35 ⚠️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latin typeface="Palatino Linotype" panose="02040502050505030304" pitchFamily="18" charset="0"/>
                        </a:rPr>
                        <a:t>INCERTO</a:t>
                      </a:r>
                      <a:endParaRPr lang="pt-BR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444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Al-Rahman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Arábia Saudita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RR=0,91 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latin typeface="Palatino Linotype" panose="02040502050505030304" pitchFamily="18" charset="0"/>
                        </a:rPr>
                        <a:t>NÃO FUNCIONA</a:t>
                      </a:r>
                      <a:endParaRPr lang="pt-BR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676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Petrov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Rússia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RR=1,09 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latin typeface="Palatino Linotype" panose="02040502050505030304" pitchFamily="18" charset="0"/>
                        </a:rPr>
                        <a:t>NÃO FUNCIONA</a:t>
                      </a:r>
                      <a:endParaRPr lang="pt-BR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98303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BA959B2-503D-9716-8162-02B9D79FB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" y="1392152"/>
            <a:ext cx="45453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📊 Panorama da Literatura:</a:t>
            </a:r>
          </a:p>
        </p:txBody>
      </p:sp>
    </p:spTree>
    <p:extLst>
      <p:ext uri="{BB962C8B-B14F-4D97-AF65-F5344CB8AC3E}">
        <p14:creationId xmlns:p14="http://schemas.microsoft.com/office/powerpoint/2010/main" val="3947974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5ACEE-94CE-FEC0-EC47-AC4D8B96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Solução: </a:t>
            </a:r>
            <a:r>
              <a:rPr lang="pt-BR" sz="4000" dirty="0">
                <a:solidFill>
                  <a:schemeClr val="bg1"/>
                </a:solidFill>
                <a:latin typeface="Palatino Linotype" panose="02040502050505030304" pitchFamily="18" charset="0"/>
              </a:rPr>
              <a:t>Revisão Sistemática com Metanálise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E8E067-6C14-C3BB-8A7D-DC60E18BFC04}"/>
              </a:ext>
            </a:extLst>
          </p:cNvPr>
          <p:cNvSpPr txBox="1"/>
          <p:nvPr/>
        </p:nvSpPr>
        <p:spPr>
          <a:xfrm>
            <a:off x="746760" y="1991360"/>
            <a:ext cx="103682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Palatino Linotype" panose="02040502050505030304" pitchFamily="18" charset="0"/>
              </a:rPr>
              <a:t>PASSO A PASSO SIMPLIFICADO</a:t>
            </a:r>
          </a:p>
          <a:p>
            <a:pPr marL="342900" indent="-342900">
              <a:buFont typeface="+mj-lt"/>
              <a:buAutoNum type="arabicPeriod"/>
            </a:pPr>
            <a:endParaRPr lang="pt-BR" sz="2400" dirty="0">
              <a:latin typeface="Palatino Linotype" panose="020405020505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Como definir a pergunta de pesquisa (PICOS)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Como realizar uma busca adequada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Como selecionar os estudos após a busca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Como avaliar a qualidade metodológica de cada estudo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Como identificar e excluir estudos com alto risco de viés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Como combinar os resultados estatisticamente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Como interpretar a heterogeneidade entre estudos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Como chegar a uma conclusão baseada em TODA a evidência</a:t>
            </a:r>
          </a:p>
        </p:txBody>
      </p:sp>
      <p:pic>
        <p:nvPicPr>
          <p:cNvPr id="12" name="Gráfico 11" descr="Internet estrutura de tópicos">
            <a:extLst>
              <a:ext uri="{FF2B5EF4-FFF2-40B4-BE49-F238E27FC236}">
                <a16:creationId xmlns:a16="http://schemas.microsoft.com/office/drawing/2014/main" id="{CD81D251-CED9-4E11-9296-ABAD278438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74480" y="144780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80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9C55-06BD-20DB-2F48-2920E6BA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B90444-EAF7-7D36-B062-20CD641A8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>
                <a:latin typeface="Palatino Linotype" panose="02040502050505030304" pitchFamily="18" charset="0"/>
              </a:rPr>
              <a:t>Revisão Sistemática com Metanálise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7D269E2-B221-30A8-9825-9C7DEE3BE29A}"/>
              </a:ext>
            </a:extLst>
          </p:cNvPr>
          <p:cNvSpPr txBox="1"/>
          <p:nvPr/>
        </p:nvSpPr>
        <p:spPr>
          <a:xfrm>
            <a:off x="838200" y="1483360"/>
            <a:ext cx="10368280" cy="4465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i="1" dirty="0">
                <a:latin typeface="Palatino Linotype" panose="02040502050505030304" pitchFamily="18" charset="0"/>
              </a:rPr>
              <a:t>Ao final da aula de hoje vamos aprender: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pt-BR" sz="2400" dirty="0">
              <a:latin typeface="Palatino Linotype" panose="0204050205050503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🔍 Nem todos os 7 estudos têm a mesma qualidade metodológica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🚫 Um dos artigos tem tantos problemas que precisa ser excluído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📊 Combinar os 6 estudos válidos de forma estatística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🎯 Que é possível estimar um efeito </a:t>
            </a:r>
            <a:r>
              <a:rPr lang="pt-BR" sz="24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real</a:t>
            </a:r>
            <a:r>
              <a:rPr lang="pt-BR" sz="2400" dirty="0">
                <a:latin typeface="Palatino Linotype" panose="02040502050505030304" pitchFamily="18" charset="0"/>
              </a:rPr>
              <a:t> do </a:t>
            </a:r>
            <a:r>
              <a:rPr lang="pt-BR" sz="2400" b="1" dirty="0" err="1">
                <a:solidFill>
                  <a:srgbClr val="C00000"/>
                </a:solidFill>
                <a:latin typeface="Palatino Linotype" panose="02040502050505030304" pitchFamily="18" charset="0"/>
              </a:rPr>
              <a:t>Hipotensinol</a:t>
            </a:r>
            <a:r>
              <a:rPr lang="pt-BR" sz="2400" dirty="0">
                <a:latin typeface="Palatino Linotype" panose="0204050205050503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💡  Que a aparente contradição pode ser explicada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2400" dirty="0">
                <a:latin typeface="Palatino Linotype" panose="02040502050505030304" pitchFamily="18" charset="0"/>
              </a:rPr>
              <a:t>✅ E, prescrever o medicamento baseada em evidência para Dona Maria</a:t>
            </a:r>
          </a:p>
        </p:txBody>
      </p:sp>
    </p:spTree>
    <p:extLst>
      <p:ext uri="{BB962C8B-B14F-4D97-AF65-F5344CB8AC3E}">
        <p14:creationId xmlns:p14="http://schemas.microsoft.com/office/powerpoint/2010/main" val="271667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40658" y="160785"/>
            <a:ext cx="11421036" cy="2017638"/>
          </a:xfrm>
        </p:spPr>
        <p:txBody>
          <a:bodyPr anchor="t">
            <a:noAutofit/>
          </a:bodyPr>
          <a:lstStyle/>
          <a:p>
            <a:r>
              <a:rPr lang="pt-BR" sz="66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Oque é uma RSMA?</a:t>
            </a:r>
            <a:endParaRPr lang="pt-BR" sz="66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025" y="1520632"/>
            <a:ext cx="10164379" cy="388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12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40658" y="160785"/>
            <a:ext cx="11421036" cy="852227"/>
          </a:xfrm>
        </p:spPr>
        <p:txBody>
          <a:bodyPr anchor="t">
            <a:noAutofit/>
          </a:bodyPr>
          <a:lstStyle/>
          <a:p>
            <a:r>
              <a:rPr lang="pt-BR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1: Definindo a pergunta</a:t>
            </a:r>
            <a:endParaRPr lang="pt-BR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188" y="1297081"/>
            <a:ext cx="7404287" cy="512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08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1: Definindo a pergunta</a:t>
            </a:r>
            <a:endParaRPr lang="pt-BR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4B6807-DA79-CFDE-C4EA-B6D816FA5B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98"/>
          <a:stretch>
            <a:fillRect/>
          </a:stretch>
        </p:blipFill>
        <p:spPr>
          <a:xfrm>
            <a:off x="209856" y="1557506"/>
            <a:ext cx="11601927" cy="362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32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2: Construindo a estratégia de busca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D8FA8F1-9048-E4B9-C01B-585F1AFE1A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523"/>
          <a:stretch>
            <a:fillRect/>
          </a:stretch>
        </p:blipFill>
        <p:spPr>
          <a:xfrm>
            <a:off x="426027" y="1745673"/>
            <a:ext cx="11679383" cy="399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83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C4C6-1E9B-A526-5D73-C3555E574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4F478-C201-82FA-0ED9-941A69172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2: Construindo a estratégia de busca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8A41BA7-085A-1A48-BCC2-92E5C5307D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523"/>
          <a:stretch>
            <a:fillRect/>
          </a:stretch>
        </p:blipFill>
        <p:spPr>
          <a:xfrm>
            <a:off x="426027" y="1745673"/>
            <a:ext cx="11679383" cy="3990109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F38FF43-D729-22B3-4807-8EAABFFF13FE}"/>
              </a:ext>
            </a:extLst>
          </p:cNvPr>
          <p:cNvSpPr txBox="1"/>
          <p:nvPr/>
        </p:nvSpPr>
        <p:spPr>
          <a:xfrm>
            <a:off x="4145288" y="2061054"/>
            <a:ext cx="527709" cy="400110"/>
          </a:xfrm>
          <a:prstGeom prst="rect">
            <a:avLst/>
          </a:prstGeom>
          <a:solidFill>
            <a:srgbClr val="FFF2E5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OR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883E205-0619-E16B-6DE5-F8EC49760FEC}"/>
              </a:ext>
            </a:extLst>
          </p:cNvPr>
          <p:cNvSpPr txBox="1"/>
          <p:nvPr/>
        </p:nvSpPr>
        <p:spPr>
          <a:xfrm>
            <a:off x="6679148" y="2061054"/>
            <a:ext cx="527709" cy="400110"/>
          </a:xfrm>
          <a:prstGeom prst="rect">
            <a:avLst/>
          </a:prstGeom>
          <a:solidFill>
            <a:srgbClr val="FFF2E5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A244F6-51AA-EA2D-F4C9-11434F0C68C9}"/>
              </a:ext>
            </a:extLst>
          </p:cNvPr>
          <p:cNvSpPr txBox="1"/>
          <p:nvPr/>
        </p:nvSpPr>
        <p:spPr>
          <a:xfrm>
            <a:off x="3838470" y="2866980"/>
            <a:ext cx="1336431" cy="400110"/>
          </a:xfrm>
          <a:prstGeom prst="rect">
            <a:avLst/>
          </a:prstGeom>
          <a:solidFill>
            <a:srgbClr val="FFF2E5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rgbClr val="FF0000"/>
                </a:solidFill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1539645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643216D-1D87-2714-1578-54A406EAE6B8}"/>
              </a:ext>
            </a:extLst>
          </p:cNvPr>
          <p:cNvSpPr txBox="1"/>
          <p:nvPr/>
        </p:nvSpPr>
        <p:spPr>
          <a:xfrm>
            <a:off x="1457010" y="1679309"/>
            <a:ext cx="912390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('</a:t>
            </a:r>
            <a:r>
              <a:rPr lang="pt-BR" dirty="0" err="1"/>
              <a:t>hypertension</a:t>
            </a:r>
            <a:r>
              <a:rPr lang="pt-BR" dirty="0"/>
              <a:t>'/</a:t>
            </a:r>
            <a:r>
              <a:rPr lang="pt-BR" dirty="0" err="1"/>
              <a:t>exp</a:t>
            </a:r>
            <a:r>
              <a:rPr lang="pt-BR" dirty="0"/>
              <a:t> OR '</a:t>
            </a:r>
            <a:r>
              <a:rPr lang="pt-BR" dirty="0" err="1"/>
              <a:t>htn</a:t>
            </a:r>
            <a:r>
              <a:rPr lang="pt-BR" dirty="0"/>
              <a:t> (</a:t>
            </a:r>
            <a:r>
              <a:rPr lang="pt-BR" dirty="0" err="1"/>
              <a:t>hypertension</a:t>
            </a:r>
            <a:r>
              <a:rPr lang="pt-BR" dirty="0"/>
              <a:t>)' OR '</a:t>
            </a:r>
            <a:r>
              <a:rPr lang="pt-BR" dirty="0" err="1"/>
              <a:t>acute</a:t>
            </a:r>
            <a:r>
              <a:rPr lang="pt-BR" dirty="0"/>
              <a:t> </a:t>
            </a:r>
            <a:r>
              <a:rPr lang="pt-BR" dirty="0" err="1"/>
              <a:t>hypertension</a:t>
            </a:r>
            <a:r>
              <a:rPr lang="pt-BR" dirty="0"/>
              <a:t>' OR 'arterial </a:t>
            </a:r>
            <a:r>
              <a:rPr lang="pt-BR" dirty="0" err="1"/>
              <a:t>hypertension</a:t>
            </a:r>
            <a:r>
              <a:rPr lang="pt-BR" dirty="0"/>
              <a:t>' OR '</a:t>
            </a:r>
            <a:r>
              <a:rPr lang="pt-BR" dirty="0" err="1"/>
              <a:t>blood</a:t>
            </a:r>
            <a:r>
              <a:rPr lang="pt-BR" dirty="0"/>
              <a:t> </a:t>
            </a:r>
            <a:r>
              <a:rPr lang="pt-BR" dirty="0" err="1"/>
              <a:t>pressure</a:t>
            </a:r>
            <a:r>
              <a:rPr lang="pt-BR" dirty="0"/>
              <a:t>, high' OR 'cardiovascular </a:t>
            </a:r>
            <a:r>
              <a:rPr lang="pt-BR" dirty="0" err="1"/>
              <a:t>hypertension</a:t>
            </a:r>
            <a:r>
              <a:rPr lang="pt-BR" dirty="0"/>
              <a:t>' OR '</a:t>
            </a:r>
            <a:r>
              <a:rPr lang="pt-BR" dirty="0" err="1"/>
              <a:t>controlled</a:t>
            </a:r>
            <a:r>
              <a:rPr lang="pt-BR" dirty="0"/>
              <a:t> </a:t>
            </a:r>
            <a:r>
              <a:rPr lang="pt-BR" dirty="0" err="1"/>
              <a:t>hypertension</a:t>
            </a:r>
            <a:r>
              <a:rPr lang="pt-BR" dirty="0"/>
              <a:t>' OR '</a:t>
            </a:r>
            <a:r>
              <a:rPr lang="pt-BR" dirty="0" err="1"/>
              <a:t>endocrine</a:t>
            </a:r>
            <a:r>
              <a:rPr lang="pt-BR" dirty="0"/>
              <a:t> </a:t>
            </a:r>
            <a:r>
              <a:rPr lang="pt-BR" dirty="0" err="1"/>
              <a:t>hypertension</a:t>
            </a:r>
            <a:r>
              <a:rPr lang="pt-BR" dirty="0"/>
              <a:t>' OR 'high </a:t>
            </a:r>
            <a:r>
              <a:rPr lang="pt-BR" dirty="0" err="1"/>
              <a:t>blood</a:t>
            </a:r>
            <a:r>
              <a:rPr lang="pt-BR" dirty="0"/>
              <a:t> </a:t>
            </a:r>
            <a:r>
              <a:rPr lang="pt-BR" dirty="0" err="1"/>
              <a:t>pressure</a:t>
            </a:r>
            <a:r>
              <a:rPr lang="pt-BR" dirty="0"/>
              <a:t>' OR 'high </a:t>
            </a:r>
            <a:r>
              <a:rPr lang="pt-BR" dirty="0" err="1"/>
              <a:t>renin</a:t>
            </a:r>
            <a:r>
              <a:rPr lang="pt-BR" dirty="0"/>
              <a:t> </a:t>
            </a:r>
            <a:r>
              <a:rPr lang="pt-BR" dirty="0" err="1"/>
              <a:t>hypertension</a:t>
            </a:r>
            <a:r>
              <a:rPr lang="pt-BR" dirty="0"/>
              <a:t>' OR '</a:t>
            </a:r>
            <a:r>
              <a:rPr lang="pt-BR" dirty="0" err="1"/>
              <a:t>hypertension</a:t>
            </a:r>
            <a:r>
              <a:rPr lang="pt-BR" dirty="0"/>
              <a:t>' OR '</a:t>
            </a:r>
            <a:r>
              <a:rPr lang="pt-BR" dirty="0" err="1"/>
              <a:t>hypertensive</a:t>
            </a:r>
            <a:r>
              <a:rPr lang="pt-BR" dirty="0"/>
              <a:t> </a:t>
            </a:r>
            <a:r>
              <a:rPr lang="pt-BR" dirty="0" err="1"/>
              <a:t>disease</a:t>
            </a:r>
            <a:r>
              <a:rPr lang="pt-BR" dirty="0"/>
              <a:t>' OR '</a:t>
            </a:r>
            <a:r>
              <a:rPr lang="pt-BR" dirty="0" err="1"/>
              <a:t>hypertensive</a:t>
            </a:r>
            <a:r>
              <a:rPr lang="pt-BR" dirty="0"/>
              <a:t> </a:t>
            </a:r>
            <a:r>
              <a:rPr lang="pt-BR" dirty="0" err="1"/>
              <a:t>effect</a:t>
            </a:r>
            <a:r>
              <a:rPr lang="pt-BR" dirty="0"/>
              <a:t>' OR '</a:t>
            </a:r>
            <a:r>
              <a:rPr lang="pt-BR" dirty="0" err="1"/>
              <a:t>hypertensive</a:t>
            </a:r>
            <a:r>
              <a:rPr lang="pt-BR" dirty="0"/>
              <a:t> </a:t>
            </a:r>
            <a:r>
              <a:rPr lang="pt-BR" dirty="0" err="1"/>
              <a:t>reaction</a:t>
            </a:r>
            <a:r>
              <a:rPr lang="pt-BR" dirty="0"/>
              <a:t>' OR '</a:t>
            </a:r>
            <a:r>
              <a:rPr lang="pt-BR" dirty="0" err="1"/>
              <a:t>hypertensive</a:t>
            </a:r>
            <a:r>
              <a:rPr lang="pt-BR" dirty="0"/>
              <a:t> response' OR '</a:t>
            </a:r>
            <a:r>
              <a:rPr lang="pt-BR" dirty="0" err="1"/>
              <a:t>neurogenic</a:t>
            </a:r>
            <a:r>
              <a:rPr lang="pt-BR" dirty="0"/>
              <a:t> </a:t>
            </a:r>
            <a:r>
              <a:rPr lang="pt-BR" dirty="0" err="1"/>
              <a:t>hypertension</a:t>
            </a:r>
            <a:r>
              <a:rPr lang="pt-BR" dirty="0"/>
              <a:t>' OR '</a:t>
            </a:r>
            <a:r>
              <a:rPr lang="pt-BR" dirty="0" err="1"/>
              <a:t>preexistent</a:t>
            </a:r>
            <a:r>
              <a:rPr lang="pt-BR" dirty="0"/>
              <a:t> </a:t>
            </a:r>
            <a:r>
              <a:rPr lang="pt-BR" dirty="0" err="1"/>
              <a:t>hypertension</a:t>
            </a:r>
            <a:r>
              <a:rPr lang="pt-BR" dirty="0"/>
              <a:t>' OR '</a:t>
            </a:r>
            <a:r>
              <a:rPr lang="pt-BR" dirty="0" err="1"/>
              <a:t>salt</a:t>
            </a:r>
            <a:r>
              <a:rPr lang="pt-BR" dirty="0"/>
              <a:t> high </a:t>
            </a:r>
            <a:r>
              <a:rPr lang="pt-BR" dirty="0" err="1"/>
              <a:t>blood</a:t>
            </a:r>
            <a:r>
              <a:rPr lang="pt-BR" dirty="0"/>
              <a:t> </a:t>
            </a:r>
            <a:r>
              <a:rPr lang="pt-BR" dirty="0" err="1"/>
              <a:t>pressure</a:t>
            </a:r>
            <a:r>
              <a:rPr lang="pt-BR" dirty="0"/>
              <a:t>' OR '</a:t>
            </a:r>
            <a:r>
              <a:rPr lang="pt-BR" dirty="0" err="1"/>
              <a:t>salt</a:t>
            </a:r>
            <a:r>
              <a:rPr lang="pt-BR" dirty="0"/>
              <a:t> </a:t>
            </a:r>
            <a:r>
              <a:rPr lang="pt-BR" dirty="0" err="1"/>
              <a:t>hypertension</a:t>
            </a:r>
            <a:r>
              <a:rPr lang="pt-BR" dirty="0"/>
              <a:t>' OR '</a:t>
            </a:r>
            <a:r>
              <a:rPr lang="pt-BR" dirty="0" err="1"/>
              <a:t>secondary</a:t>
            </a:r>
            <a:r>
              <a:rPr lang="pt-BR" dirty="0"/>
              <a:t> </a:t>
            </a:r>
            <a:r>
              <a:rPr lang="pt-BR" dirty="0" err="1"/>
              <a:t>hypertension</a:t>
            </a:r>
            <a:r>
              <a:rPr lang="pt-BR" dirty="0"/>
              <a:t>' OR '</a:t>
            </a:r>
            <a:r>
              <a:rPr lang="pt-BR" dirty="0" err="1"/>
              <a:t>systemic</a:t>
            </a:r>
            <a:r>
              <a:rPr lang="pt-BR" dirty="0"/>
              <a:t> </a:t>
            </a:r>
            <a:r>
              <a:rPr lang="pt-BR" dirty="0" err="1"/>
              <a:t>hypertension</a:t>
            </a:r>
            <a:r>
              <a:rPr lang="pt-BR" dirty="0"/>
              <a:t>') AND ('</a:t>
            </a:r>
            <a:r>
              <a:rPr lang="pt-BR" dirty="0" err="1"/>
              <a:t>adult</a:t>
            </a:r>
            <a:r>
              <a:rPr lang="pt-BR" dirty="0"/>
              <a:t>'/</a:t>
            </a:r>
            <a:r>
              <a:rPr lang="pt-BR" dirty="0" err="1"/>
              <a:t>exp</a:t>
            </a:r>
            <a:r>
              <a:rPr lang="pt-BR" dirty="0"/>
              <a:t> OR '</a:t>
            </a:r>
            <a:r>
              <a:rPr lang="pt-BR" dirty="0" err="1"/>
              <a:t>adult</a:t>
            </a:r>
            <a:r>
              <a:rPr lang="pt-BR" dirty="0"/>
              <a:t>' OR '</a:t>
            </a:r>
            <a:r>
              <a:rPr lang="pt-BR" dirty="0" err="1"/>
              <a:t>adults</a:t>
            </a:r>
            <a:r>
              <a:rPr lang="pt-BR" dirty="0"/>
              <a:t>' OR '</a:t>
            </a:r>
            <a:r>
              <a:rPr lang="pt-BR" dirty="0" err="1"/>
              <a:t>grown-ups</a:t>
            </a:r>
            <a:r>
              <a:rPr lang="pt-BR" dirty="0"/>
              <a:t>' OR '</a:t>
            </a:r>
            <a:r>
              <a:rPr lang="pt-BR" dirty="0" err="1"/>
              <a:t>grownup</a:t>
            </a:r>
            <a:r>
              <a:rPr lang="pt-BR" dirty="0"/>
              <a:t>' OR '</a:t>
            </a:r>
            <a:r>
              <a:rPr lang="pt-BR" dirty="0" err="1"/>
              <a:t>grownups</a:t>
            </a:r>
            <a:r>
              <a:rPr lang="pt-BR" dirty="0"/>
              <a:t>') AND ('placebo'/</a:t>
            </a:r>
            <a:r>
              <a:rPr lang="pt-BR" dirty="0" err="1"/>
              <a:t>exp</a:t>
            </a:r>
            <a:r>
              <a:rPr lang="pt-BR" dirty="0"/>
              <a:t> OR 'placebo' OR 'placebo gel' OR 'placebos') AND ('</a:t>
            </a:r>
            <a:r>
              <a:rPr lang="pt-BR" dirty="0" err="1"/>
              <a:t>blood</a:t>
            </a:r>
            <a:r>
              <a:rPr lang="pt-BR" dirty="0"/>
              <a:t> </a:t>
            </a:r>
            <a:r>
              <a:rPr lang="pt-BR" dirty="0" err="1"/>
              <a:t>pressure</a:t>
            </a:r>
            <a:r>
              <a:rPr lang="pt-BR" dirty="0"/>
              <a:t>'/</a:t>
            </a:r>
            <a:r>
              <a:rPr lang="pt-BR" dirty="0" err="1"/>
              <a:t>exp</a:t>
            </a:r>
            <a:r>
              <a:rPr lang="pt-BR" dirty="0"/>
              <a:t> OR '</a:t>
            </a:r>
            <a:r>
              <a:rPr lang="pt-BR" dirty="0" err="1"/>
              <a:t>blood</a:t>
            </a:r>
            <a:r>
              <a:rPr lang="pt-BR" dirty="0"/>
              <a:t> </a:t>
            </a:r>
            <a:r>
              <a:rPr lang="pt-BR" dirty="0" err="1"/>
              <a:t>pressure</a:t>
            </a:r>
            <a:r>
              <a:rPr lang="pt-BR" dirty="0"/>
              <a:t>' OR '</a:t>
            </a:r>
            <a:r>
              <a:rPr lang="pt-BR" dirty="0" err="1"/>
              <a:t>blood</a:t>
            </a:r>
            <a:r>
              <a:rPr lang="pt-BR" dirty="0"/>
              <a:t> </a:t>
            </a:r>
            <a:r>
              <a:rPr lang="pt-BR" dirty="0" err="1"/>
              <a:t>tension</a:t>
            </a:r>
            <a:r>
              <a:rPr lang="pt-BR" dirty="0"/>
              <a:t>' OR 'intravascular </a:t>
            </a:r>
            <a:r>
              <a:rPr lang="pt-BR" dirty="0" err="1"/>
              <a:t>pressure</a:t>
            </a:r>
            <a:r>
              <a:rPr lang="pt-BR" dirty="0"/>
              <a:t>' OR '</a:t>
            </a:r>
            <a:r>
              <a:rPr lang="pt-BR" dirty="0" err="1"/>
              <a:t>normotension</a:t>
            </a:r>
            <a:r>
              <a:rPr lang="pt-BR" dirty="0"/>
              <a:t>' OR '</a:t>
            </a:r>
            <a:r>
              <a:rPr lang="pt-BR" dirty="0" err="1"/>
              <a:t>pressure</a:t>
            </a:r>
            <a:r>
              <a:rPr lang="pt-BR" dirty="0"/>
              <a:t>, </a:t>
            </a:r>
            <a:r>
              <a:rPr lang="pt-BR" dirty="0" err="1"/>
              <a:t>blood</a:t>
            </a:r>
            <a:r>
              <a:rPr lang="pt-BR" dirty="0"/>
              <a:t>' OR 'vascular </a:t>
            </a:r>
            <a:r>
              <a:rPr lang="pt-BR" dirty="0" err="1"/>
              <a:t>pressure</a:t>
            </a:r>
            <a:r>
              <a:rPr lang="pt-BR" dirty="0"/>
              <a:t>') AND '</a:t>
            </a:r>
            <a:r>
              <a:rPr lang="pt-BR" dirty="0" err="1"/>
              <a:t>randomized</a:t>
            </a:r>
            <a:r>
              <a:rPr lang="pt-BR" dirty="0"/>
              <a:t> </a:t>
            </a:r>
            <a:r>
              <a:rPr lang="pt-BR" dirty="0" err="1"/>
              <a:t>controlled</a:t>
            </a:r>
            <a:r>
              <a:rPr lang="pt-BR" dirty="0"/>
              <a:t> </a:t>
            </a:r>
            <a:r>
              <a:rPr lang="pt-BR" dirty="0" err="1"/>
              <a:t>trial</a:t>
            </a:r>
            <a:r>
              <a:rPr lang="pt-BR" dirty="0"/>
              <a:t>'/</a:t>
            </a:r>
            <a:r>
              <a:rPr lang="pt-BR" dirty="0" err="1"/>
              <a:t>exp</a:t>
            </a:r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D14C6D1-BBF9-D5E9-9764-3AD473F8D094}"/>
              </a:ext>
            </a:extLst>
          </p:cNvPr>
          <p:cNvSpPr txBox="1">
            <a:spLocks/>
          </p:cNvSpPr>
          <p:nvPr/>
        </p:nvSpPr>
        <p:spPr>
          <a:xfrm>
            <a:off x="0" y="160785"/>
            <a:ext cx="12192000" cy="8522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2: Construindo a estratégia de busca</a:t>
            </a:r>
            <a:endParaRPr lang="pt-BR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614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2: Realizando a busca &gt; 5 bases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439" y="1013012"/>
            <a:ext cx="7732601" cy="542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49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3: Seleção dos Artigos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502024" y="15240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313764" y="1013012"/>
            <a:ext cx="6364941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Parte 1 – Título e resumo</a:t>
            </a:r>
          </a:p>
        </p:txBody>
      </p:sp>
      <p:sp>
        <p:nvSpPr>
          <p:cNvPr id="6" name="Retângulo 5"/>
          <p:cNvSpPr/>
          <p:nvPr/>
        </p:nvSpPr>
        <p:spPr>
          <a:xfrm>
            <a:off x="313764" y="1524001"/>
            <a:ext cx="6364941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Parte 2 – Critérios de inclusão/exclusão</a:t>
            </a:r>
          </a:p>
        </p:txBody>
      </p:sp>
      <p:sp>
        <p:nvSpPr>
          <p:cNvPr id="7" name="Retângulo 6"/>
          <p:cNvSpPr/>
          <p:nvPr/>
        </p:nvSpPr>
        <p:spPr>
          <a:xfrm>
            <a:off x="313764" y="2034991"/>
            <a:ext cx="6364941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Parte 3 – Risco de viés </a:t>
            </a:r>
          </a:p>
        </p:txBody>
      </p:sp>
      <p:sp>
        <p:nvSpPr>
          <p:cNvPr id="9" name="Rectangle 3"/>
          <p:cNvSpPr/>
          <p:nvPr/>
        </p:nvSpPr>
        <p:spPr>
          <a:xfrm>
            <a:off x="1075764" y="2922493"/>
            <a:ext cx="10255624" cy="30469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Palatino Linotype" panose="02040502050505030304" pitchFamily="18" charset="0"/>
                <a:cs typeface="Times New Roman"/>
              </a:rPr>
              <a:t>Durante a seleção dos estudos, a avaliação dos títulos e dos resumos (abstracts) identificados na busca inicial </a:t>
            </a:r>
            <a:r>
              <a:rPr lang="pt-BR" sz="3200" b="1" i="1" u="sng" dirty="0">
                <a:solidFill>
                  <a:srgbClr val="FF0000"/>
                </a:solidFill>
                <a:latin typeface="Palatino Linotype" panose="02040502050505030304" pitchFamily="18" charset="0"/>
                <a:cs typeface="Times New Roman"/>
              </a:rPr>
              <a:t>deve ser feita por pelo menos dois pesquisadores, de forma independente e cegada,</a:t>
            </a:r>
            <a:r>
              <a:rPr lang="pt-BR" sz="3200" dirty="0">
                <a:latin typeface="Palatino Linotype" panose="02040502050505030304" pitchFamily="18" charset="0"/>
                <a:cs typeface="Times New Roman"/>
              </a:rPr>
              <a:t> obedecendo rigorosamente aos critérios de inclusão e exclusão definidos no protocolo de pesquisa.</a:t>
            </a:r>
            <a:endParaRPr lang="en-US" sz="3200" dirty="0">
              <a:latin typeface="Palatino Linotype" panose="020405020505050303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655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3: Seleção dos Artigos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0" y="1039904"/>
            <a:ext cx="4582159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800" dirty="0"/>
              <a:t>Título e resumo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l="14779" t="9019" r="11176" b="18301"/>
          <a:stretch/>
        </p:blipFill>
        <p:spPr>
          <a:xfrm>
            <a:off x="1988126" y="1712258"/>
            <a:ext cx="9027459" cy="498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97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3: Seleção dos Artigos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" y="1039904"/>
            <a:ext cx="3881718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800" dirty="0"/>
              <a:t>Metodologia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839155" y="1727798"/>
            <a:ext cx="973065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Palatino Linotype" panose="02040502050505030304" pitchFamily="18" charset="0"/>
              </a:rPr>
              <a:t>Exemplos de fatores metodológicos </a:t>
            </a:r>
          </a:p>
          <a:p>
            <a:pPr marL="285750" indent="-285750">
              <a:buFontTx/>
              <a:buChar char="-"/>
            </a:pPr>
            <a:r>
              <a:rPr lang="pt-BR" sz="3600" dirty="0">
                <a:latin typeface="Palatino Linotype" panose="02040502050505030304" pitchFamily="18" charset="0"/>
              </a:rPr>
              <a:t>Uso de medicamentos</a:t>
            </a:r>
          </a:p>
          <a:p>
            <a:pPr marL="285750" indent="-285750">
              <a:buFontTx/>
              <a:buChar char="-"/>
            </a:pPr>
            <a:r>
              <a:rPr lang="pt-BR" sz="3600" dirty="0">
                <a:latin typeface="Palatino Linotype" panose="02040502050505030304" pitchFamily="18" charset="0"/>
              </a:rPr>
              <a:t>Idioma</a:t>
            </a:r>
          </a:p>
          <a:p>
            <a:pPr marL="285750" indent="-285750">
              <a:buFontTx/>
              <a:buChar char="-"/>
            </a:pPr>
            <a:r>
              <a:rPr lang="pt-BR" sz="3600" dirty="0">
                <a:latin typeface="Palatino Linotype" panose="02040502050505030304" pitchFamily="18" charset="0"/>
              </a:rPr>
              <a:t>Disponibilidade de dados</a:t>
            </a:r>
          </a:p>
          <a:p>
            <a:r>
              <a:rPr lang="pt-BR" sz="3600" b="1" dirty="0">
                <a:latin typeface="Palatino Linotype" panose="02040502050505030304" pitchFamily="18" charset="0"/>
              </a:rPr>
              <a:t>Inclusão e Exclusão</a:t>
            </a:r>
          </a:p>
          <a:p>
            <a:pPr marL="685800" indent="-685800">
              <a:buFontTx/>
              <a:buChar char="-"/>
            </a:pPr>
            <a:r>
              <a:rPr lang="pt-BR" sz="3600" dirty="0">
                <a:latin typeface="Palatino Linotype" panose="02040502050505030304" pitchFamily="18" charset="0"/>
              </a:rPr>
              <a:t>Idade alvo</a:t>
            </a:r>
          </a:p>
          <a:p>
            <a:pPr marL="571500" indent="-571500">
              <a:buFontTx/>
              <a:buChar char="-"/>
            </a:pPr>
            <a:r>
              <a:rPr lang="pt-BR" sz="3600" dirty="0">
                <a:latin typeface="Palatino Linotype" panose="02040502050505030304" pitchFamily="18" charset="0"/>
              </a:rPr>
              <a:t>Medida ou informação desejada</a:t>
            </a:r>
          </a:p>
          <a:p>
            <a:endParaRPr lang="pt-BR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214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4: Avaliar os Artigos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" y="1039904"/>
            <a:ext cx="3881718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800" dirty="0"/>
              <a:t>Parte 3 – Risco de viés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/>
          <a:srcRect l="9559" t="43660" r="18382" b="19739"/>
          <a:stretch/>
        </p:blipFill>
        <p:spPr>
          <a:xfrm>
            <a:off x="1120587" y="2169459"/>
            <a:ext cx="10103225" cy="288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074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4: Avaliar os Artigos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" y="1039904"/>
            <a:ext cx="3881718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800" dirty="0"/>
              <a:t>Parte 3 – Risco de viés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155" y="1461245"/>
            <a:ext cx="6535270" cy="504998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3"/>
          <a:srcRect l="19383" t="50142" r="41930" b="29603"/>
          <a:stretch/>
        </p:blipFill>
        <p:spPr>
          <a:xfrm>
            <a:off x="0" y="1975722"/>
            <a:ext cx="5829644" cy="1663949"/>
          </a:xfrm>
          <a:prstGeom prst="rect">
            <a:avLst/>
          </a:prstGeom>
        </p:spPr>
      </p:pic>
      <p:pic>
        <p:nvPicPr>
          <p:cNvPr id="25602" name="Picture 2" descr="RevMan Tips: setting up preferences in RevMan 5 | Cochrane Oral Healt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60" y="3986235"/>
            <a:ext cx="16383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625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09CD-B1EE-BE0F-D9B0-AA0E7F79C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A4D12-7E6E-F692-351E-940A3A65A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4: Avaliar os Artigos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35A29EB-F1A2-7EB0-3420-9D41803CCBDF}"/>
              </a:ext>
            </a:extLst>
          </p:cNvPr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4303B25-B427-F83E-A9C2-C61B7B76F3AC}"/>
              </a:ext>
            </a:extLst>
          </p:cNvPr>
          <p:cNvSpPr/>
          <p:nvPr/>
        </p:nvSpPr>
        <p:spPr>
          <a:xfrm>
            <a:off x="1" y="1039904"/>
            <a:ext cx="3881718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800" dirty="0"/>
              <a:t>Parte 3 – Risco de viés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B6B0AB1-7EA4-38F2-6E72-A80F346106FF}"/>
              </a:ext>
            </a:extLst>
          </p:cNvPr>
          <p:cNvSpPr txBox="1"/>
          <p:nvPr/>
        </p:nvSpPr>
        <p:spPr>
          <a:xfrm>
            <a:off x="942817" y="2269850"/>
            <a:ext cx="103063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b="1" dirty="0">
                <a:latin typeface="Palatino Linotype" panose="02040502050505030304" pitchFamily="18" charset="0"/>
              </a:rPr>
              <a:t>Vamos avaliar os nossos 7 estudos?</a:t>
            </a:r>
            <a:endParaRPr lang="pt-BR" sz="8800" dirty="0">
              <a:latin typeface="Palatino Linotype" panose="02040502050505030304" pitchFamily="18" charset="0"/>
            </a:endParaRPr>
          </a:p>
          <a:p>
            <a:endParaRPr lang="pt-BR" sz="88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18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839C6-441A-B3DC-5CB3-BC6208653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949FE-ED3B-EE1E-7B03-94ED863A0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4: Avaliar os Artigos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99643B9-5D65-4821-3A63-4D67C4AD6E1F}"/>
              </a:ext>
            </a:extLst>
          </p:cNvPr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CF344E0-40CF-72E4-6263-F9AC6954BFD9}"/>
              </a:ext>
            </a:extLst>
          </p:cNvPr>
          <p:cNvSpPr/>
          <p:nvPr/>
        </p:nvSpPr>
        <p:spPr>
          <a:xfrm>
            <a:off x="1" y="1039904"/>
            <a:ext cx="3881718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800" dirty="0"/>
              <a:t>Parte 3 – Risco de viés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CFB64A3-AE8C-0098-8BCF-D764EAD06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043788"/>
              </p:ext>
            </p:extLst>
          </p:nvPr>
        </p:nvGraphicFramePr>
        <p:xfrm>
          <a:off x="152401" y="2269851"/>
          <a:ext cx="11927844" cy="2141411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325316">
                  <a:extLst>
                    <a:ext uri="{9D8B030D-6E8A-4147-A177-3AD203B41FA5}">
                      <a16:colId xmlns:a16="http://schemas.microsoft.com/office/drawing/2014/main" val="4003652330"/>
                    </a:ext>
                  </a:extLst>
                </a:gridCol>
                <a:gridCol w="1325316">
                  <a:extLst>
                    <a:ext uri="{9D8B030D-6E8A-4147-A177-3AD203B41FA5}">
                      <a16:colId xmlns:a16="http://schemas.microsoft.com/office/drawing/2014/main" val="612684287"/>
                    </a:ext>
                  </a:extLst>
                </a:gridCol>
                <a:gridCol w="1169527">
                  <a:extLst>
                    <a:ext uri="{9D8B030D-6E8A-4147-A177-3AD203B41FA5}">
                      <a16:colId xmlns:a16="http://schemas.microsoft.com/office/drawing/2014/main" val="3331318335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339577156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72426894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67961914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846511825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499905083"/>
                    </a:ext>
                  </a:extLst>
                </a:gridCol>
                <a:gridCol w="1422405">
                  <a:extLst>
                    <a:ext uri="{9D8B030D-6E8A-4147-A177-3AD203B41FA5}">
                      <a16:colId xmlns:a16="http://schemas.microsoft.com/office/drawing/2014/main" val="1736753664"/>
                    </a:ext>
                  </a:extLst>
                </a:gridCol>
              </a:tblGrid>
              <a:tr h="4331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b="1" kern="0" dirty="0">
                          <a:effectLst/>
                        </a:rPr>
                        <a:t>Estudo</a:t>
                      </a:r>
                      <a:endParaRPr lang="pt-BR" sz="1200" b="1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b="1" kern="0" dirty="0">
                          <a:effectLst/>
                        </a:rPr>
                        <a:t>Randomização</a:t>
                      </a:r>
                      <a:endParaRPr lang="pt-BR" sz="1200" b="1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b="1" kern="0" dirty="0">
                          <a:effectLst/>
                        </a:rPr>
                        <a:t>Ocultação alocação</a:t>
                      </a:r>
                      <a:endParaRPr lang="pt-BR" sz="1200" b="1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b="1" kern="0" dirty="0">
                          <a:effectLst/>
                        </a:rPr>
                        <a:t>Cegamento participantes</a:t>
                      </a:r>
                      <a:endParaRPr lang="pt-BR" sz="1200" b="1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b="1" kern="0" dirty="0">
                          <a:effectLst/>
                        </a:rPr>
                        <a:t>Cegamento avaliadores</a:t>
                      </a:r>
                      <a:endParaRPr lang="pt-BR" sz="1200" b="1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b="1" kern="0" dirty="0">
                          <a:effectLst/>
                        </a:rPr>
                        <a:t>Dados completos</a:t>
                      </a:r>
                      <a:endParaRPr lang="pt-BR" sz="1200" b="1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b="1" kern="0" dirty="0">
                          <a:effectLst/>
                        </a:rPr>
                        <a:t>Relato seletivo</a:t>
                      </a:r>
                      <a:endParaRPr lang="pt-BR" sz="1200" b="1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b="1" kern="0" dirty="0">
                          <a:effectLst/>
                        </a:rPr>
                        <a:t>Outros vieses</a:t>
                      </a:r>
                      <a:endParaRPr lang="pt-BR" sz="1200" b="1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b="1" kern="0" dirty="0">
                          <a:effectLst/>
                        </a:rPr>
                        <a:t>RISCO GLOBAL</a:t>
                      </a:r>
                      <a:endParaRPr lang="pt-BR" sz="1200" b="1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0990965"/>
                  </a:ext>
                </a:extLst>
              </a:tr>
              <a:tr h="2215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Silva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Adequada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Adequada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Sim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Sim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0% perda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Protocolo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Nenhum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🟢 BAIXO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2961366"/>
                  </a:ext>
                </a:extLst>
              </a:tr>
              <a:tr h="2215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Johnson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Adequada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Adequada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✗ Aberto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Sim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2,5% perda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Protocolo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⚠️ Desfecho objetivo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🟡 MODERADO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8113915"/>
                  </a:ext>
                </a:extLst>
              </a:tr>
              <a:tr h="2215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Zhang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Adequada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Adequada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Sim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Sim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0% perda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Protocolo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Nenhum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🟢 BAIXO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57715394"/>
                  </a:ext>
                </a:extLst>
              </a:tr>
              <a:tr h="2215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Martinez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Adequada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Adequada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Sim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Sim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0% perda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Protocolo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Nenhum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🟢 BAIXO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32294698"/>
                  </a:ext>
                </a:extLst>
              </a:tr>
              <a:tr h="2215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Kowalski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Adequada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Adequada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Sim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Sim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3,2% perda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Protocolo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Nenhum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🟢 BAIXO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59480844"/>
                  </a:ext>
                </a:extLst>
              </a:tr>
              <a:tr h="2215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Al-Rahman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Adequada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Adequada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✓ Sim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Sim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4% perda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Protocolo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✓ Nenhum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🟢 BAIXO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96776168"/>
                  </a:ext>
                </a:extLst>
              </a:tr>
              <a:tr h="2215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Petrov*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⚠️ Não descrita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✗ Inadequada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✗ Aberto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✗ Não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✗ 18% perda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</a:rPr>
                        <a:t>⚠️ Possível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🔴 Múltiplos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</a:rPr>
                        <a:t>🔴 ALTO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222214"/>
                  </a:ext>
                </a:extLst>
              </a:tr>
            </a:tbl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1BDFDDCB-9E59-22A4-4AE5-FA6B77E87977}"/>
              </a:ext>
            </a:extLst>
          </p:cNvPr>
          <p:cNvSpPr/>
          <p:nvPr/>
        </p:nvSpPr>
        <p:spPr>
          <a:xfrm>
            <a:off x="1422394" y="2966721"/>
            <a:ext cx="10617205" cy="145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B095A18-DC1E-6E7E-3FC8-E66DFBE70324}"/>
              </a:ext>
            </a:extLst>
          </p:cNvPr>
          <p:cNvSpPr/>
          <p:nvPr/>
        </p:nvSpPr>
        <p:spPr>
          <a:xfrm>
            <a:off x="2804160" y="2966721"/>
            <a:ext cx="9235439" cy="145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4AF46F8-5276-899E-FFE3-850C0C5F98AB}"/>
              </a:ext>
            </a:extLst>
          </p:cNvPr>
          <p:cNvSpPr/>
          <p:nvPr/>
        </p:nvSpPr>
        <p:spPr>
          <a:xfrm>
            <a:off x="4013200" y="2966721"/>
            <a:ext cx="8178800" cy="145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7FEA675-B850-F7EE-C278-161A4A3F7B14}"/>
              </a:ext>
            </a:extLst>
          </p:cNvPr>
          <p:cNvSpPr/>
          <p:nvPr/>
        </p:nvSpPr>
        <p:spPr>
          <a:xfrm>
            <a:off x="5303520" y="2966721"/>
            <a:ext cx="6776725" cy="145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EAE3922-E054-1525-9867-E955B12C0F48}"/>
              </a:ext>
            </a:extLst>
          </p:cNvPr>
          <p:cNvSpPr/>
          <p:nvPr/>
        </p:nvSpPr>
        <p:spPr>
          <a:xfrm>
            <a:off x="6431280" y="2966721"/>
            <a:ext cx="5648965" cy="145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BA4DF68-3BC0-B395-C092-2E098CD7DD45}"/>
              </a:ext>
            </a:extLst>
          </p:cNvPr>
          <p:cNvSpPr/>
          <p:nvPr/>
        </p:nvSpPr>
        <p:spPr>
          <a:xfrm>
            <a:off x="7741926" y="2966721"/>
            <a:ext cx="4297673" cy="145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FBB94CC-8363-1391-1831-D4C6CAA46C31}"/>
              </a:ext>
            </a:extLst>
          </p:cNvPr>
          <p:cNvSpPr/>
          <p:nvPr/>
        </p:nvSpPr>
        <p:spPr>
          <a:xfrm>
            <a:off x="8900160" y="2966721"/>
            <a:ext cx="3139440" cy="145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39B6648-E796-64C2-E588-64A98FA297DA}"/>
              </a:ext>
            </a:extLst>
          </p:cNvPr>
          <p:cNvSpPr/>
          <p:nvPr/>
        </p:nvSpPr>
        <p:spPr>
          <a:xfrm>
            <a:off x="10566405" y="2966721"/>
            <a:ext cx="1473194" cy="14547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76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5: Resumir estatisticamente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0" y="1000454"/>
            <a:ext cx="6868160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Parte 1 – Extração de dados metodológicos</a:t>
            </a:r>
          </a:p>
        </p:txBody>
      </p:sp>
      <p:sp>
        <p:nvSpPr>
          <p:cNvPr id="7" name="Retângulo 6"/>
          <p:cNvSpPr/>
          <p:nvPr/>
        </p:nvSpPr>
        <p:spPr>
          <a:xfrm>
            <a:off x="0" y="1479177"/>
            <a:ext cx="5347447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Parte 2 – Extração de resultados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769" y="1689847"/>
            <a:ext cx="5457825" cy="50292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447" y="3132884"/>
            <a:ext cx="38100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02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5: Extração dos dados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0" y="1000454"/>
            <a:ext cx="7193280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Parte 1 – Extração de dados metodológicos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FDEEEEC-8CF8-F0F9-EFAC-A33E6FCE0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499067"/>
              </p:ext>
            </p:extLst>
          </p:nvPr>
        </p:nvGraphicFramePr>
        <p:xfrm>
          <a:off x="264160" y="2547872"/>
          <a:ext cx="11755116" cy="215087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782320">
                  <a:extLst>
                    <a:ext uri="{9D8B030D-6E8A-4147-A177-3AD203B41FA5}">
                      <a16:colId xmlns:a16="http://schemas.microsoft.com/office/drawing/2014/main" val="127952985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26760717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855351711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2119032927"/>
                    </a:ext>
                  </a:extLst>
                </a:gridCol>
                <a:gridCol w="1209040">
                  <a:extLst>
                    <a:ext uri="{9D8B030D-6E8A-4147-A177-3AD203B41FA5}">
                      <a16:colId xmlns:a16="http://schemas.microsoft.com/office/drawing/2014/main" val="3002063298"/>
                    </a:ext>
                  </a:extLst>
                </a:gridCol>
                <a:gridCol w="1452880">
                  <a:extLst>
                    <a:ext uri="{9D8B030D-6E8A-4147-A177-3AD203B41FA5}">
                      <a16:colId xmlns:a16="http://schemas.microsoft.com/office/drawing/2014/main" val="3421378430"/>
                    </a:ext>
                  </a:extLst>
                </a:gridCol>
                <a:gridCol w="1361440">
                  <a:extLst>
                    <a:ext uri="{9D8B030D-6E8A-4147-A177-3AD203B41FA5}">
                      <a16:colId xmlns:a16="http://schemas.microsoft.com/office/drawing/2014/main" val="4094982509"/>
                    </a:ext>
                  </a:extLst>
                </a:gridCol>
                <a:gridCol w="1731712">
                  <a:extLst>
                    <a:ext uri="{9D8B030D-6E8A-4147-A177-3AD203B41FA5}">
                      <a16:colId xmlns:a16="http://schemas.microsoft.com/office/drawing/2014/main" val="2365355774"/>
                    </a:ext>
                  </a:extLst>
                </a:gridCol>
                <a:gridCol w="1306124">
                  <a:extLst>
                    <a:ext uri="{9D8B030D-6E8A-4147-A177-3AD203B41FA5}">
                      <a16:colId xmlns:a16="http://schemas.microsoft.com/office/drawing/2014/main" val="33180710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Estudo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Autor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Ano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País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N Total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N Intervenção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N Controle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Duração (sem)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Cegamento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71954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Silva et al.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2019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Brasil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120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60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60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12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Duplo-cego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78900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Johnson et al.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2020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EUA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200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100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100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16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Aberto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9017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Zhang et al.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2021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China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85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42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43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12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Duplo-cego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62690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Martinez et al.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2018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Espanha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60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30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Duplo-cego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53766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5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Kowalski et al.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2022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Polônia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95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48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47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Duplo-cego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92383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Al-Rahman et al.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2019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Arábia Saudita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75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38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37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12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Duplo-cego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37006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Petrov et al.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2020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Rússia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50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25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25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Aberto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6664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470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5: Extração dos dados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0" y="1000454"/>
            <a:ext cx="6878320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Parte 1 – Extração de dados metodológicos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DFEE4AC-E525-ED56-70F0-23287EA51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553580"/>
              </p:ext>
            </p:extLst>
          </p:nvPr>
        </p:nvGraphicFramePr>
        <p:xfrm>
          <a:off x="259078" y="2748573"/>
          <a:ext cx="11374118" cy="241179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295402">
                  <a:extLst>
                    <a:ext uri="{9D8B030D-6E8A-4147-A177-3AD203B41FA5}">
                      <a16:colId xmlns:a16="http://schemas.microsoft.com/office/drawing/2014/main" val="629807309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385452157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236249414"/>
                    </a:ext>
                  </a:extLst>
                </a:gridCol>
                <a:gridCol w="1361440">
                  <a:extLst>
                    <a:ext uri="{9D8B030D-6E8A-4147-A177-3AD203B41FA5}">
                      <a16:colId xmlns:a16="http://schemas.microsoft.com/office/drawing/2014/main" val="2495330151"/>
                    </a:ext>
                  </a:extLst>
                </a:gridCol>
                <a:gridCol w="1452880">
                  <a:extLst>
                    <a:ext uri="{9D8B030D-6E8A-4147-A177-3AD203B41FA5}">
                      <a16:colId xmlns:a16="http://schemas.microsoft.com/office/drawing/2014/main" val="70039464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4254352154"/>
                    </a:ext>
                  </a:extLst>
                </a:gridCol>
                <a:gridCol w="2489196">
                  <a:extLst>
                    <a:ext uri="{9D8B030D-6E8A-4147-A177-3AD203B41FA5}">
                      <a16:colId xmlns:a16="http://schemas.microsoft.com/office/drawing/2014/main" val="1290857111"/>
                    </a:ext>
                  </a:extLst>
                </a:gridCol>
              </a:tblGrid>
              <a:tr h="2051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Estudo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Idade média (anos)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% Homens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IMC médio (kg/m²)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PAS Basal (mmHg)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PAD Basal (mmHg)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Gravidade HAS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83743158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Silva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54,7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55%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28,7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148,1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93,0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Leve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8935454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Johnson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58,9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56%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31,0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165,1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102,1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Moderada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68411017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Zhang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51,0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58%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27,0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152,1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96,0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Leve-Moderada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51167381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Martinez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46,0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55%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27,6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140,0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89,6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Limítrofe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6882396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Kowalski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54,9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56%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29,3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147,1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93,5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Leve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55497616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Al-Rahman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59,8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57%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30,5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149,1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94,4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Leve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11380965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Petrov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52,1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61%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28,9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153,0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96,0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Leve-Moderada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31238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598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5: Extração dos dados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0" y="1000454"/>
            <a:ext cx="7172960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Parte 1 – Extração de resultados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0A8E33C-DAA0-25B2-9F83-2FDCACCFF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963449"/>
              </p:ext>
            </p:extLst>
          </p:nvPr>
        </p:nvGraphicFramePr>
        <p:xfrm>
          <a:off x="284480" y="2676364"/>
          <a:ext cx="11623040" cy="241179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178560">
                  <a:extLst>
                    <a:ext uri="{9D8B030D-6E8A-4147-A177-3AD203B41FA5}">
                      <a16:colId xmlns:a16="http://schemas.microsoft.com/office/drawing/2014/main" val="127992053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51741746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308490218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43672865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9473595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8339696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192826306"/>
                    </a:ext>
                  </a:extLst>
                </a:gridCol>
                <a:gridCol w="619760">
                  <a:extLst>
                    <a:ext uri="{9D8B030D-6E8A-4147-A177-3AD203B41FA5}">
                      <a16:colId xmlns:a16="http://schemas.microsoft.com/office/drawing/2014/main" val="926360095"/>
                    </a:ext>
                  </a:extLst>
                </a:gridCol>
                <a:gridCol w="1361440">
                  <a:extLst>
                    <a:ext uri="{9D8B030D-6E8A-4147-A177-3AD203B41FA5}">
                      <a16:colId xmlns:a16="http://schemas.microsoft.com/office/drawing/2014/main" val="1276725684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974212226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1898845972"/>
                    </a:ext>
                  </a:extLst>
                </a:gridCol>
              </a:tblGrid>
              <a:tr h="4008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Estudo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Normalizaram GI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Total GI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% GI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Normalizaram GC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Total GC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% GC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RR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IC95% RR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RD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NNT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57408545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Silva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38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60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63,3%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12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60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20,0%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3,17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[1,82 - 5,51]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43,3%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2,3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38737947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Johnson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52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100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52,0%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15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100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15,0%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3,47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[2,09 - 5,75]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37,0%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2,7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3208412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Zhang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25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42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59,5%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43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23,3%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2,58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[1,42 - 4,68]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36,2%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2,8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03606088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Martinez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16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30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53,3%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12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40,0%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1,33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[0,77 - 2,31]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13,3%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7,5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52161601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Kowalski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22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48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45,8%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16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47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34,0%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1,35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[0,81 - 2,24]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11,8%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8,5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69438462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Al-Rahman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14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38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36,8%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15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37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40,5%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0,91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[0,51 - 1,62]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-3,7%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-27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29587683"/>
                  </a:ext>
                </a:extLst>
              </a:tr>
              <a:tr h="954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Petrov*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21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38,1%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7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20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35,0%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1,09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[0,48 - 2,46]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3,1%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32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27748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286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B3AD6-290C-2509-ACFE-35ACBD05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F4F38-81B6-AF4B-A761-A5E6C250A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5: Extração dos dados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58F9D50-0CBA-942E-0E08-49B2EFF88B9E}"/>
              </a:ext>
            </a:extLst>
          </p:cNvPr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8E8F4C3-A8B0-60B8-3794-A6A70836260D}"/>
              </a:ext>
            </a:extLst>
          </p:cNvPr>
          <p:cNvSpPr/>
          <p:nvPr/>
        </p:nvSpPr>
        <p:spPr>
          <a:xfrm>
            <a:off x="0" y="1000454"/>
            <a:ext cx="7172960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Parte 1 – Extração de resultados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12CC4B8-EAC6-73A6-E78D-15B6A1A99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313691"/>
              </p:ext>
            </p:extLst>
          </p:nvPr>
        </p:nvGraphicFramePr>
        <p:xfrm>
          <a:off x="299720" y="1731484"/>
          <a:ext cx="11567160" cy="212921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285240">
                  <a:extLst>
                    <a:ext uri="{9D8B030D-6E8A-4147-A177-3AD203B41FA5}">
                      <a16:colId xmlns:a16="http://schemas.microsoft.com/office/drawing/2014/main" val="4090893933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2873989481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3473941530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3017969476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348467735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3040129713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2821336924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3086424150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6825024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Estudo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PAS Final GI (mmHg)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DP GI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PAS Final GC (mmHg)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DP GC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Diferença Média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IC95%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Redução GI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Redução GC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350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Silva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131,2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8,9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146,3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9,8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-15,1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[-18,3, -11,9]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-16,9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484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Johnson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143,1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11,2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161,9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9,4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-18,8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[-21,6, -16,0]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-22,3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-2,9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62180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Zhang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135,3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8,4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149,9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10,7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-14,6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[-18,9, -10,3]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-16,8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4550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Martinez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135,4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9,2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137,9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8,3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-2,5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[-7,0, +2,0]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-4,3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-2,3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49257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Kowalski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141,2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10,3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145,4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9,1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-4,2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[-8,2, -0,2]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-6,1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-1,5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1935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Al-Rahman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146,8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11,9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146,1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10,2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+0,7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[-4,2, +5,6]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-2,1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-3,2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67853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Petrov*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151,4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13,2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149,1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11,4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+2,3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[-5,6, +10,2]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-3,7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906036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566A43E-5158-63C7-F079-00663B92E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551102"/>
              </p:ext>
            </p:extLst>
          </p:nvPr>
        </p:nvGraphicFramePr>
        <p:xfrm>
          <a:off x="299720" y="4001183"/>
          <a:ext cx="11567160" cy="212921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285240">
                  <a:extLst>
                    <a:ext uri="{9D8B030D-6E8A-4147-A177-3AD203B41FA5}">
                      <a16:colId xmlns:a16="http://schemas.microsoft.com/office/drawing/2014/main" val="783867083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49541550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4292268736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3850409836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3486002143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3881750818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4221736788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2666174722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29598169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Estudo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PAD Final GI (mmHg)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DP GI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PAD Final GC (mmHg)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DP GC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Diferença Média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IC95%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Redução GI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Redução GC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03257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Silva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84,5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6,2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91,8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6,7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-7,3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[-9,6, -5,0]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-8,5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-1,0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363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Johnson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89,7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7,8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100,2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6,9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-10,5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[-12,7, -8,3]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-12,6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-1,7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08227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Zhang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86,1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5,7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93,9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7,2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-7,8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[-10,6, -5,0]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-10,1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24811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Martinez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85,8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6,4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87,1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5,9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-1,3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[-4,3, +1,7]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-3,5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-2,7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58218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Kowalski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88,9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7,2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91,7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6,8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-2,8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[-5,7, +0,1]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-4,9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-1,5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41209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Al-Rahman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92,3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7,8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91,9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7,1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+0,4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[-3,0, +3,8]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-1,9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-2,6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17584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Petrov*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94,8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8,9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93,2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7,6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+1,6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>
                          <a:effectLst/>
                          <a:latin typeface="Palatino Linotype" panose="02040502050505030304" pitchFamily="18" charset="0"/>
                        </a:rPr>
                        <a:t>[-3,5, +6,7]</a:t>
                      </a:r>
                      <a:endParaRPr lang="pt-BR" sz="12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-1,5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kern="0" dirty="0">
                          <a:effectLst/>
                          <a:latin typeface="Palatino Linotype" panose="02040502050505030304" pitchFamily="18" charset="0"/>
                        </a:rPr>
                        <a:t>-2,5</a:t>
                      </a:r>
                      <a:endParaRPr lang="pt-BR" sz="12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04041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021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93D79-0C60-2145-3A0F-DB447CC57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42DB5-580F-95A5-BC33-1CA2F6FB8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5: Extração dos dados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8D1108-FB23-22C8-EDB9-CFAF055D422A}"/>
              </a:ext>
            </a:extLst>
          </p:cNvPr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47C14F0-3116-6AD7-5829-F1849AF6DABF}"/>
              </a:ext>
            </a:extLst>
          </p:cNvPr>
          <p:cNvSpPr/>
          <p:nvPr/>
        </p:nvSpPr>
        <p:spPr>
          <a:xfrm>
            <a:off x="0" y="1000454"/>
            <a:ext cx="7172960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Parte 1 – Extração de resultados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B47ABFC-1A94-CF06-A654-81774A529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73363"/>
              </p:ext>
            </p:extLst>
          </p:nvPr>
        </p:nvGraphicFramePr>
        <p:xfrm>
          <a:off x="279399" y="2085184"/>
          <a:ext cx="11445238" cy="228288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635034">
                  <a:extLst>
                    <a:ext uri="{9D8B030D-6E8A-4147-A177-3AD203B41FA5}">
                      <a16:colId xmlns:a16="http://schemas.microsoft.com/office/drawing/2014/main" val="772881944"/>
                    </a:ext>
                  </a:extLst>
                </a:gridCol>
                <a:gridCol w="1296127">
                  <a:extLst>
                    <a:ext uri="{9D8B030D-6E8A-4147-A177-3AD203B41FA5}">
                      <a16:colId xmlns:a16="http://schemas.microsoft.com/office/drawing/2014/main" val="2062368780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1616190405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4294938852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1094911094"/>
                    </a:ext>
                  </a:extLst>
                </a:gridCol>
                <a:gridCol w="2854960">
                  <a:extLst>
                    <a:ext uri="{9D8B030D-6E8A-4147-A177-3AD203B41FA5}">
                      <a16:colId xmlns:a16="http://schemas.microsoft.com/office/drawing/2014/main" val="3093880279"/>
                    </a:ext>
                  </a:extLst>
                </a:gridCol>
                <a:gridCol w="2285997">
                  <a:extLst>
                    <a:ext uri="{9D8B030D-6E8A-4147-A177-3AD203B41FA5}">
                      <a16:colId xmlns:a16="http://schemas.microsoft.com/office/drawing/2014/main" val="2404446927"/>
                    </a:ext>
                  </a:extLst>
                </a:gridCol>
              </a:tblGrid>
              <a:tr h="4008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Estudo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EA Totais GI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% GI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EA Totais GC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% GC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Tipos de EA mais comuns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Descontinuação por EA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64641533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Silva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13,3%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5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8,3%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Cefaleia leve, tontura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95871275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Johnson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15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15,0%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8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8,0%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Cefaleia, fadiga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3 (GI)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52841917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Zhang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14,3%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4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9,3%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Tontura, náusea leve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06852869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Martinez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10,0%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6,7%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Cefaleia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63846344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Kowalski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9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18,8%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12,8%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Cefaleia, tontura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 (GI)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34117028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Al-Rahman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11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28,9%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9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24,3%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Cefaleia, tontura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1061451"/>
                  </a:ext>
                </a:extLst>
              </a:tr>
              <a:tr h="205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Petrov*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6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28,6%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3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15,0%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  <a:latin typeface="Palatino Linotype" panose="02040502050505030304" pitchFamily="18" charset="0"/>
                        </a:rPr>
                        <a:t>Não especificados</a:t>
                      </a:r>
                      <a:endParaRPr lang="pt-BR" sz="14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  <a:latin typeface="Palatino Linotype" panose="02040502050505030304" pitchFamily="18" charset="0"/>
                        </a:rPr>
                        <a:t>0</a:t>
                      </a:r>
                      <a:endParaRPr lang="pt-BR" sz="14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23634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622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715" y="1900518"/>
            <a:ext cx="9888569" cy="4377307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F0E8DBE5-137D-1783-858B-AA49DDC7E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188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8327828-6AC3-41A8-AEF2-2CA97AD95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001" y="1295400"/>
            <a:ext cx="9324975" cy="55626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AAA3DA2-6CF5-97A5-956E-C415FAE86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4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1B24AB5-4DE4-40D7-A849-9540DA465C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48" t="28608" r="31408" b="17540"/>
          <a:stretch/>
        </p:blipFill>
        <p:spPr>
          <a:xfrm>
            <a:off x="2500543" y="1216240"/>
            <a:ext cx="7190913" cy="509611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EC1CF4B-0DD1-2079-D194-A91039CAE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535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DBE0769-DDE9-487A-A5FB-DCA720A84D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921" t="31845" r="27404" b="14304"/>
          <a:stretch/>
        </p:blipFill>
        <p:spPr>
          <a:xfrm>
            <a:off x="1919056" y="1013012"/>
            <a:ext cx="8353888" cy="542155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481B88E-A375-04C0-E3CB-99BC37EB5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933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F4C3DB1-35FA-4A11-8952-BD9D776096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631" t="29773" r="30971" b="14951"/>
          <a:stretch/>
        </p:blipFill>
        <p:spPr>
          <a:xfrm>
            <a:off x="2078855" y="1013012"/>
            <a:ext cx="8034290" cy="575611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253F0A8-27A5-9A08-E3CE-B5DAF7A7C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0043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CD78-43B8-3FDA-E51E-85DFF1D8C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62EE9-AE6C-4764-A29C-FC7069393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9C7E11-49D9-C22E-3A8B-F36F47A38B2F}"/>
              </a:ext>
            </a:extLst>
          </p:cNvPr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DD06532-333E-DE37-A68C-8F1354671C9B}"/>
              </a:ext>
            </a:extLst>
          </p:cNvPr>
          <p:cNvSpPr/>
          <p:nvPr/>
        </p:nvSpPr>
        <p:spPr>
          <a:xfrm>
            <a:off x="0" y="1000454"/>
            <a:ext cx="7008549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Tamanho de efeito – Dados Dicotômicos RD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87B6FEB6-24B4-022B-9951-74E512680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830005"/>
              </p:ext>
            </p:extLst>
          </p:nvPr>
        </p:nvGraphicFramePr>
        <p:xfrm>
          <a:off x="504770" y="5724819"/>
          <a:ext cx="11392591" cy="1066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6944">
                  <a:extLst>
                    <a:ext uri="{9D8B030D-6E8A-4147-A177-3AD203B41FA5}">
                      <a16:colId xmlns:a16="http://schemas.microsoft.com/office/drawing/2014/main" val="882555087"/>
                    </a:ext>
                  </a:extLst>
                </a:gridCol>
                <a:gridCol w="2222857">
                  <a:extLst>
                    <a:ext uri="{9D8B030D-6E8A-4147-A177-3AD203B41FA5}">
                      <a16:colId xmlns:a16="http://schemas.microsoft.com/office/drawing/2014/main" val="516029400"/>
                    </a:ext>
                  </a:extLst>
                </a:gridCol>
                <a:gridCol w="1023682">
                  <a:extLst>
                    <a:ext uri="{9D8B030D-6E8A-4147-A177-3AD203B41FA5}">
                      <a16:colId xmlns:a16="http://schemas.microsoft.com/office/drawing/2014/main" val="423527375"/>
                    </a:ext>
                  </a:extLst>
                </a:gridCol>
                <a:gridCol w="880587">
                  <a:extLst>
                    <a:ext uri="{9D8B030D-6E8A-4147-A177-3AD203B41FA5}">
                      <a16:colId xmlns:a16="http://schemas.microsoft.com/office/drawing/2014/main" val="1236211083"/>
                    </a:ext>
                  </a:extLst>
                </a:gridCol>
                <a:gridCol w="1287858">
                  <a:extLst>
                    <a:ext uri="{9D8B030D-6E8A-4147-A177-3AD203B41FA5}">
                      <a16:colId xmlns:a16="http://schemas.microsoft.com/office/drawing/2014/main" val="208520383"/>
                    </a:ext>
                  </a:extLst>
                </a:gridCol>
                <a:gridCol w="1243829">
                  <a:extLst>
                    <a:ext uri="{9D8B030D-6E8A-4147-A177-3AD203B41FA5}">
                      <a16:colId xmlns:a16="http://schemas.microsoft.com/office/drawing/2014/main" val="3055421263"/>
                    </a:ext>
                  </a:extLst>
                </a:gridCol>
                <a:gridCol w="1552034">
                  <a:extLst>
                    <a:ext uri="{9D8B030D-6E8A-4147-A177-3AD203B41FA5}">
                      <a16:colId xmlns:a16="http://schemas.microsoft.com/office/drawing/2014/main" val="942286964"/>
                    </a:ext>
                  </a:extLst>
                </a:gridCol>
                <a:gridCol w="1944800">
                  <a:extLst>
                    <a:ext uri="{9D8B030D-6E8A-4147-A177-3AD203B41FA5}">
                      <a16:colId xmlns:a16="http://schemas.microsoft.com/office/drawing/2014/main" val="1669197153"/>
                    </a:ext>
                  </a:extLst>
                </a:gridCol>
              </a:tblGrid>
              <a:tr h="194660">
                <a:tc gridSpan="8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b="1" dirty="0" err="1">
                          <a:effectLst/>
                          <a:latin typeface="Palatino Linotype" panose="02040502050505030304" pitchFamily="18" charset="0"/>
                        </a:rPr>
                        <a:t>Heterogeneity</a:t>
                      </a: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pt-BR" sz="1800" b="1" dirty="0" err="1">
                          <a:effectLst/>
                          <a:latin typeface="Palatino Linotype" panose="02040502050505030304" pitchFamily="18" charset="0"/>
                        </a:rPr>
                        <a:t>Statistics</a:t>
                      </a:r>
                      <a:endParaRPr lang="pt-BR" sz="1800" b="1" dirty="0"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60960" marT="30480" marB="3048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562691"/>
                  </a:ext>
                </a:extLst>
              </a:tr>
              <a:tr h="194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Tau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Tau²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I²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H²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R²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 err="1">
                          <a:effectLst/>
                          <a:latin typeface="Palatino Linotype" panose="02040502050505030304" pitchFamily="18" charset="0"/>
                        </a:rPr>
                        <a:t>df</a:t>
                      </a:r>
                      <a:endParaRPr lang="pt-BR" sz="1800" b="1" dirty="0"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Q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p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223797792"/>
                  </a:ext>
                </a:extLst>
              </a:tr>
              <a:tr h="233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0.15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0.0223 (SE= 0.0204 )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72.69%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3.66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.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5.00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18.31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0.003</a:t>
                      </a:r>
                    </a:p>
                  </a:txBody>
                  <a:tcPr marL="60960" marT="60960" marB="60960" anchor="ctr"/>
                </a:tc>
                <a:extLst>
                  <a:ext uri="{0D108BD9-81ED-4DB2-BD59-A6C34878D82A}">
                    <a16:rowId xmlns:a16="http://schemas.microsoft.com/office/drawing/2014/main" val="3630719388"/>
                  </a:ext>
                </a:extLst>
              </a:tr>
            </a:tbl>
          </a:graphicData>
        </a:graphic>
      </p:graphicFrame>
      <p:pic>
        <p:nvPicPr>
          <p:cNvPr id="11" name="Imagem 10">
            <a:extLst>
              <a:ext uri="{FF2B5EF4-FFF2-40B4-BE49-F238E27FC236}">
                <a16:creationId xmlns:a16="http://schemas.microsoft.com/office/drawing/2014/main" id="{C938828A-3DF7-FA8F-6EAA-DFA852E69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720" y="1421795"/>
            <a:ext cx="7640320" cy="429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01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79D5-1566-878C-743D-1D5FF2B59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3DBDC-5AE5-DCD4-E2F2-21571D023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A18917-CBC3-206F-08D2-80ACFBCBB41D}"/>
              </a:ext>
            </a:extLst>
          </p:cNvPr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CFB29FA-1ABC-3976-E87B-CB22578E91F8}"/>
              </a:ext>
            </a:extLst>
          </p:cNvPr>
          <p:cNvSpPr/>
          <p:nvPr/>
        </p:nvSpPr>
        <p:spPr>
          <a:xfrm>
            <a:off x="0" y="863075"/>
            <a:ext cx="7586505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Tamanho de efeito – Dados Contínuos – DM PAS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C29979B-646E-18A7-F474-737D78DB1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912916"/>
              </p:ext>
            </p:extLst>
          </p:nvPr>
        </p:nvGraphicFramePr>
        <p:xfrm>
          <a:off x="299356" y="5608326"/>
          <a:ext cx="11593288" cy="1066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8330">
                  <a:extLst>
                    <a:ext uri="{9D8B030D-6E8A-4147-A177-3AD203B41FA5}">
                      <a16:colId xmlns:a16="http://schemas.microsoft.com/office/drawing/2014/main" val="2000176138"/>
                    </a:ext>
                  </a:extLst>
                </a:gridCol>
                <a:gridCol w="2688771">
                  <a:extLst>
                    <a:ext uri="{9D8B030D-6E8A-4147-A177-3AD203B41FA5}">
                      <a16:colId xmlns:a16="http://schemas.microsoft.com/office/drawing/2014/main" val="685759599"/>
                    </a:ext>
                  </a:extLst>
                </a:gridCol>
                <a:gridCol w="1360714">
                  <a:extLst>
                    <a:ext uri="{9D8B030D-6E8A-4147-A177-3AD203B41FA5}">
                      <a16:colId xmlns:a16="http://schemas.microsoft.com/office/drawing/2014/main" val="3372396222"/>
                    </a:ext>
                  </a:extLst>
                </a:gridCol>
                <a:gridCol w="1404258">
                  <a:extLst>
                    <a:ext uri="{9D8B030D-6E8A-4147-A177-3AD203B41FA5}">
                      <a16:colId xmlns:a16="http://schemas.microsoft.com/office/drawing/2014/main" val="3972491608"/>
                    </a:ext>
                  </a:extLst>
                </a:gridCol>
                <a:gridCol w="1013732">
                  <a:extLst>
                    <a:ext uri="{9D8B030D-6E8A-4147-A177-3AD203B41FA5}">
                      <a16:colId xmlns:a16="http://schemas.microsoft.com/office/drawing/2014/main" val="1694107827"/>
                    </a:ext>
                  </a:extLst>
                </a:gridCol>
                <a:gridCol w="1449161">
                  <a:extLst>
                    <a:ext uri="{9D8B030D-6E8A-4147-A177-3AD203B41FA5}">
                      <a16:colId xmlns:a16="http://schemas.microsoft.com/office/drawing/2014/main" val="3094545022"/>
                    </a:ext>
                  </a:extLst>
                </a:gridCol>
                <a:gridCol w="1449161">
                  <a:extLst>
                    <a:ext uri="{9D8B030D-6E8A-4147-A177-3AD203B41FA5}">
                      <a16:colId xmlns:a16="http://schemas.microsoft.com/office/drawing/2014/main" val="3630760987"/>
                    </a:ext>
                  </a:extLst>
                </a:gridCol>
                <a:gridCol w="1449161">
                  <a:extLst>
                    <a:ext uri="{9D8B030D-6E8A-4147-A177-3AD203B41FA5}">
                      <a16:colId xmlns:a16="http://schemas.microsoft.com/office/drawing/2014/main" val="3064935902"/>
                    </a:ext>
                  </a:extLst>
                </a:gridCol>
              </a:tblGrid>
              <a:tr h="192391">
                <a:tc gridSpan="8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 err="1">
                          <a:effectLst/>
                          <a:latin typeface="Palatino Linotype" panose="02040502050505030304" pitchFamily="18" charset="0"/>
                        </a:rPr>
                        <a:t>Heterogeneity</a:t>
                      </a:r>
                      <a:r>
                        <a:rPr lang="pt-BR" b="1" dirty="0"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pt-BR" b="1" dirty="0" err="1">
                          <a:effectLst/>
                          <a:latin typeface="Palatino Linotype" panose="02040502050505030304" pitchFamily="18" charset="0"/>
                        </a:rPr>
                        <a:t>Statistics</a:t>
                      </a:r>
                      <a:endParaRPr lang="pt-BR" b="1" dirty="0"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60960" marT="30480" marB="3048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019090"/>
                  </a:ext>
                </a:extLst>
              </a:tr>
              <a:tr h="192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effectLst/>
                          <a:latin typeface="Palatino Linotype" panose="02040502050505030304" pitchFamily="18" charset="0"/>
                        </a:rPr>
                        <a:t>Tau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effectLst/>
                          <a:latin typeface="Palatino Linotype" panose="02040502050505030304" pitchFamily="18" charset="0"/>
                        </a:rPr>
                        <a:t>Tau²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effectLst/>
                          <a:latin typeface="Palatino Linotype" panose="02040502050505030304" pitchFamily="18" charset="0"/>
                        </a:rPr>
                        <a:t>I²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effectLst/>
                          <a:latin typeface="Palatino Linotype" panose="02040502050505030304" pitchFamily="18" charset="0"/>
                        </a:rPr>
                        <a:t>H²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effectLst/>
                          <a:latin typeface="Palatino Linotype" panose="02040502050505030304" pitchFamily="18" charset="0"/>
                        </a:rPr>
                        <a:t>R²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effectLst/>
                          <a:latin typeface="Palatino Linotype" panose="02040502050505030304" pitchFamily="18" charset="0"/>
                        </a:rPr>
                        <a:t>df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effectLst/>
                          <a:latin typeface="Palatino Linotype" panose="02040502050505030304" pitchFamily="18" charset="0"/>
                        </a:rPr>
                        <a:t>Q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effectLst/>
                          <a:latin typeface="Palatino Linotype" panose="02040502050505030304" pitchFamily="18" charset="0"/>
                        </a:rPr>
                        <a:t>p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446581333"/>
                  </a:ext>
                </a:extLst>
              </a:tr>
              <a:tr h="384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Palatino Linotype" panose="02040502050505030304" pitchFamily="18" charset="0"/>
                        </a:rPr>
                        <a:t>7.78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Palatino Linotype" panose="02040502050505030304" pitchFamily="18" charset="0"/>
                        </a:rPr>
                        <a:t>60.4775 (SE= 40.8638 )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Palatino Linotype" panose="02040502050505030304" pitchFamily="18" charset="0"/>
                        </a:rPr>
                        <a:t>94.14%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Palatino Linotype" panose="02040502050505030304" pitchFamily="18" charset="0"/>
                        </a:rPr>
                        <a:t>17.05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Palatino Linotype" panose="02040502050505030304" pitchFamily="18" charset="0"/>
                        </a:rPr>
                        <a:t>.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Palatino Linotype" panose="02040502050505030304" pitchFamily="18" charset="0"/>
                        </a:rPr>
                        <a:t>5.00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Palatino Linotype" panose="02040502050505030304" pitchFamily="18" charset="0"/>
                        </a:rPr>
                        <a:t>83.58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effectLst/>
                          <a:latin typeface="Palatino Linotype" panose="02040502050505030304" pitchFamily="18" charset="0"/>
                        </a:rPr>
                        <a:t>&lt; .001</a:t>
                      </a:r>
                    </a:p>
                  </a:txBody>
                  <a:tcPr marL="60960" marT="60960" marB="60960" anchor="ctr"/>
                </a:tc>
                <a:extLst>
                  <a:ext uri="{0D108BD9-81ED-4DB2-BD59-A6C34878D82A}">
                    <a16:rowId xmlns:a16="http://schemas.microsoft.com/office/drawing/2014/main" val="805582644"/>
                  </a:ext>
                </a:extLst>
              </a:tr>
            </a:tbl>
          </a:graphicData>
        </a:graphic>
      </p:graphicFrame>
      <p:pic>
        <p:nvPicPr>
          <p:cNvPr id="12" name="Imagem 11">
            <a:extLst>
              <a:ext uri="{FF2B5EF4-FFF2-40B4-BE49-F238E27FC236}">
                <a16:creationId xmlns:a16="http://schemas.microsoft.com/office/drawing/2014/main" id="{5EF2C255-9CF2-9A36-BD35-047382352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779" y="1356452"/>
            <a:ext cx="7774441" cy="414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050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DA1F3-AF17-7053-7E45-B2BEC80D8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66905-9315-8EC4-5D88-C34899B4C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423F9B7-353A-0398-252C-F62BDD623F8B}"/>
              </a:ext>
            </a:extLst>
          </p:cNvPr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013DE4F-0F0A-DD12-3515-47E783A1F123}"/>
              </a:ext>
            </a:extLst>
          </p:cNvPr>
          <p:cNvSpPr/>
          <p:nvPr/>
        </p:nvSpPr>
        <p:spPr>
          <a:xfrm>
            <a:off x="-1" y="1000454"/>
            <a:ext cx="7807570" cy="42134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Tamanho de efeito – Dados Contínuos – DM - PAD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C04BAEC-3ED8-23A8-516F-31468E4E5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745426"/>
              </p:ext>
            </p:extLst>
          </p:nvPr>
        </p:nvGraphicFramePr>
        <p:xfrm>
          <a:off x="288472" y="5630415"/>
          <a:ext cx="11615056" cy="1066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75379212"/>
                    </a:ext>
                  </a:extLst>
                </a:gridCol>
                <a:gridCol w="2356757">
                  <a:extLst>
                    <a:ext uri="{9D8B030D-6E8A-4147-A177-3AD203B41FA5}">
                      <a16:colId xmlns:a16="http://schemas.microsoft.com/office/drawing/2014/main" val="2728155568"/>
                    </a:ext>
                  </a:extLst>
                </a:gridCol>
                <a:gridCol w="932089">
                  <a:extLst>
                    <a:ext uri="{9D8B030D-6E8A-4147-A177-3AD203B41FA5}">
                      <a16:colId xmlns:a16="http://schemas.microsoft.com/office/drawing/2014/main" val="3204762013"/>
                    </a:ext>
                  </a:extLst>
                </a:gridCol>
                <a:gridCol w="1451882">
                  <a:extLst>
                    <a:ext uri="{9D8B030D-6E8A-4147-A177-3AD203B41FA5}">
                      <a16:colId xmlns:a16="http://schemas.microsoft.com/office/drawing/2014/main" val="3754745227"/>
                    </a:ext>
                  </a:extLst>
                </a:gridCol>
                <a:gridCol w="1451882">
                  <a:extLst>
                    <a:ext uri="{9D8B030D-6E8A-4147-A177-3AD203B41FA5}">
                      <a16:colId xmlns:a16="http://schemas.microsoft.com/office/drawing/2014/main" val="1666895604"/>
                    </a:ext>
                  </a:extLst>
                </a:gridCol>
                <a:gridCol w="1451882">
                  <a:extLst>
                    <a:ext uri="{9D8B030D-6E8A-4147-A177-3AD203B41FA5}">
                      <a16:colId xmlns:a16="http://schemas.microsoft.com/office/drawing/2014/main" val="3841733740"/>
                    </a:ext>
                  </a:extLst>
                </a:gridCol>
                <a:gridCol w="1451882">
                  <a:extLst>
                    <a:ext uri="{9D8B030D-6E8A-4147-A177-3AD203B41FA5}">
                      <a16:colId xmlns:a16="http://schemas.microsoft.com/office/drawing/2014/main" val="951177415"/>
                    </a:ext>
                  </a:extLst>
                </a:gridCol>
                <a:gridCol w="1451882">
                  <a:extLst>
                    <a:ext uri="{9D8B030D-6E8A-4147-A177-3AD203B41FA5}">
                      <a16:colId xmlns:a16="http://schemas.microsoft.com/office/drawing/2014/main" val="3155635479"/>
                    </a:ext>
                  </a:extLst>
                </a:gridCol>
              </a:tblGrid>
              <a:tr h="176941">
                <a:tc gridSpan="8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b="1" dirty="0" err="1">
                          <a:effectLst/>
                          <a:latin typeface="Palatino Linotype" panose="02040502050505030304" pitchFamily="18" charset="0"/>
                        </a:rPr>
                        <a:t>Heterogeneity</a:t>
                      </a: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pt-BR" sz="1800" b="1" dirty="0" err="1">
                          <a:effectLst/>
                          <a:latin typeface="Palatino Linotype" panose="02040502050505030304" pitchFamily="18" charset="0"/>
                        </a:rPr>
                        <a:t>Statistics</a:t>
                      </a:r>
                      <a:endParaRPr lang="pt-BR" sz="1800" b="1" dirty="0"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60960" marT="30480" marB="3048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836508"/>
                  </a:ext>
                </a:extLst>
              </a:tr>
              <a:tr h="1769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>
                          <a:effectLst/>
                          <a:latin typeface="Palatino Linotype" panose="02040502050505030304" pitchFamily="18" charset="0"/>
                        </a:rPr>
                        <a:t>Tau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Tau²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I²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H²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R²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 err="1">
                          <a:effectLst/>
                          <a:latin typeface="Palatino Linotype" panose="02040502050505030304" pitchFamily="18" charset="0"/>
                        </a:rPr>
                        <a:t>df</a:t>
                      </a:r>
                      <a:endParaRPr lang="pt-BR" sz="1800" b="1" dirty="0"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>
                          <a:effectLst/>
                          <a:latin typeface="Palatino Linotype" panose="02040502050505030304" pitchFamily="18" charset="0"/>
                        </a:rPr>
                        <a:t>Q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1" dirty="0">
                          <a:effectLst/>
                          <a:latin typeface="Palatino Linotype" panose="02040502050505030304" pitchFamily="18" charset="0"/>
                        </a:rPr>
                        <a:t>p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123837876"/>
                  </a:ext>
                </a:extLst>
              </a:tr>
              <a:tr h="219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4.03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16.2004 (SE= 11.4947 )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89.85%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9.85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.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5.00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49.00</a:t>
                      </a:r>
                    </a:p>
                  </a:txBody>
                  <a:tcPr marL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dirty="0">
                          <a:effectLst/>
                          <a:latin typeface="Palatino Linotype" panose="02040502050505030304" pitchFamily="18" charset="0"/>
                        </a:rPr>
                        <a:t>&lt; .001</a:t>
                      </a:r>
                    </a:p>
                  </a:txBody>
                  <a:tcPr marL="60960" marT="60960" marB="60960" anchor="ctr"/>
                </a:tc>
                <a:extLst>
                  <a:ext uri="{0D108BD9-81ED-4DB2-BD59-A6C34878D82A}">
                    <a16:rowId xmlns:a16="http://schemas.microsoft.com/office/drawing/2014/main" val="1164202865"/>
                  </a:ext>
                </a:extLst>
              </a:tr>
            </a:tbl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8DF95EC4-0D63-3923-B5C3-C762A2860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130" y="1432700"/>
            <a:ext cx="7275739" cy="399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89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DD43B9B-1FA2-3B25-57F5-FEC867633C43}"/>
              </a:ext>
            </a:extLst>
          </p:cNvPr>
          <p:cNvSpPr txBox="1"/>
          <p:nvPr/>
        </p:nvSpPr>
        <p:spPr>
          <a:xfrm>
            <a:off x="481919" y="921340"/>
            <a:ext cx="1122815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latin typeface="Palatino Linotype" panose="02040502050505030304" pitchFamily="18" charset="0"/>
              </a:rPr>
              <a:t>As fontes principais de heterogeneidade em uma metanálise são características metodológicas como:</a:t>
            </a:r>
          </a:p>
          <a:p>
            <a:pPr algn="just"/>
            <a:endParaRPr lang="pt-BR" sz="2400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  <a:p>
            <a:pPr algn="just"/>
            <a:r>
              <a:rPr lang="pt-BR" sz="2000" b="0" i="0" dirty="0">
                <a:solidFill>
                  <a:srgbClr val="333333"/>
                </a:solidFill>
                <a:effectLst/>
                <a:latin typeface="Palatino Linotype" panose="02040502050505030304" pitchFamily="18" charset="0"/>
              </a:rPr>
              <a:t>Qualquer tipo de variabilidade entre estudos em uma revisão sistemática pode ser chamado de </a:t>
            </a:r>
            <a:r>
              <a:rPr lang="pt-BR" sz="2000" b="0" i="1" dirty="0">
                <a:solidFill>
                  <a:srgbClr val="333333"/>
                </a:solidFill>
                <a:effectLst/>
                <a:latin typeface="Palatino Linotype" panose="02040502050505030304" pitchFamily="18" charset="0"/>
              </a:rPr>
              <a:t>heterogeneidade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Palatino Linotype" panose="02040502050505030304" pitchFamily="18" charset="0"/>
              </a:rPr>
              <a:t>. </a:t>
            </a:r>
          </a:p>
          <a:p>
            <a:pPr algn="just"/>
            <a:endParaRPr lang="pt-BR" sz="2000" dirty="0">
              <a:solidFill>
                <a:srgbClr val="333333"/>
              </a:solidFill>
              <a:latin typeface="Palatino Linotype" panose="02040502050505030304" pitchFamily="18" charset="0"/>
            </a:endParaRPr>
          </a:p>
          <a:p>
            <a:pPr algn="just"/>
            <a:r>
              <a:rPr lang="pt-BR" sz="2000" b="0" i="0" dirty="0">
                <a:solidFill>
                  <a:srgbClr val="333333"/>
                </a:solidFill>
                <a:effectLst/>
                <a:latin typeface="Palatino Linotype" panose="02040502050505030304" pitchFamily="18" charset="0"/>
              </a:rPr>
              <a:t>A variabilidade nos participantes, intervenções e desfechos estudados podem ser descritos como </a:t>
            </a:r>
            <a:r>
              <a:rPr lang="pt-BR" sz="2000" b="1" i="0" dirty="0">
                <a:solidFill>
                  <a:srgbClr val="333333"/>
                </a:solidFill>
                <a:effectLst/>
                <a:latin typeface="Palatino Linotype" panose="02040502050505030304" pitchFamily="18" charset="0"/>
              </a:rPr>
              <a:t>diversidade clínica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Palatino Linotype" panose="02040502050505030304" pitchFamily="18" charset="0"/>
              </a:rPr>
              <a:t> (às vezes chamada de heterogeneidade clínica). </a:t>
            </a:r>
          </a:p>
          <a:p>
            <a:pPr algn="just"/>
            <a:endParaRPr lang="pt-BR" sz="2000" dirty="0">
              <a:solidFill>
                <a:srgbClr val="333333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A233DB4-B7BE-683E-AE7F-D8D719905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8887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DD43B9B-1FA2-3B25-57F5-FEC867633C43}"/>
              </a:ext>
            </a:extLst>
          </p:cNvPr>
          <p:cNvSpPr txBox="1"/>
          <p:nvPr/>
        </p:nvSpPr>
        <p:spPr>
          <a:xfrm>
            <a:off x="481919" y="921340"/>
            <a:ext cx="1122815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latin typeface="Palatino Linotype" panose="02040502050505030304" pitchFamily="18" charset="0"/>
              </a:rPr>
              <a:t>As fontes principais de heterogeneidade em uma metanálise são características metodológicas como:</a:t>
            </a:r>
          </a:p>
          <a:p>
            <a:pPr algn="just"/>
            <a:endParaRPr lang="pt-BR" sz="2400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  <a:p>
            <a:pPr algn="just"/>
            <a:r>
              <a:rPr lang="pt-BR" sz="2000" dirty="0">
                <a:solidFill>
                  <a:srgbClr val="333333"/>
                </a:solidFill>
                <a:latin typeface="Palatino Linotype" panose="02040502050505030304" pitchFamily="18" charset="0"/>
              </a:rPr>
              <a:t>A 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Palatino Linotype" panose="02040502050505030304" pitchFamily="18" charset="0"/>
              </a:rPr>
              <a:t>variabilidade no desenho do estudo, ferramentas de medição de desfechos e risco de viés podem ser descritos como </a:t>
            </a:r>
            <a:r>
              <a:rPr lang="pt-BR" sz="2000" b="1" i="0" dirty="0">
                <a:solidFill>
                  <a:srgbClr val="333333"/>
                </a:solidFill>
                <a:effectLst/>
                <a:latin typeface="Palatino Linotype" panose="02040502050505030304" pitchFamily="18" charset="0"/>
              </a:rPr>
              <a:t>diversidade metodológica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Palatino Linotype" panose="02040502050505030304" pitchFamily="18" charset="0"/>
              </a:rPr>
              <a:t> (às vezes chamada de heterogeneidade metodológica). </a:t>
            </a:r>
          </a:p>
          <a:p>
            <a:pPr algn="just"/>
            <a:endParaRPr lang="pt-BR" sz="2000" dirty="0">
              <a:solidFill>
                <a:srgbClr val="333333"/>
              </a:solidFill>
              <a:latin typeface="Palatino Linotype" panose="02040502050505030304" pitchFamily="18" charset="0"/>
            </a:endParaRPr>
          </a:p>
          <a:p>
            <a:pPr algn="just"/>
            <a:r>
              <a:rPr lang="pt-BR" sz="2000" b="0" i="0" dirty="0">
                <a:solidFill>
                  <a:srgbClr val="333333"/>
                </a:solidFill>
                <a:effectLst/>
                <a:latin typeface="Palatino Linotype" panose="02040502050505030304" pitchFamily="18" charset="0"/>
              </a:rPr>
              <a:t>A variabilidade nos efeitos de intervenção avaliados nos diferentes estudos é conhecida como </a:t>
            </a:r>
            <a:r>
              <a:rPr lang="pt-BR" sz="2000" b="1" i="0" dirty="0">
                <a:solidFill>
                  <a:srgbClr val="333333"/>
                </a:solidFill>
                <a:effectLst/>
                <a:latin typeface="Palatino Linotype" panose="02040502050505030304" pitchFamily="18" charset="0"/>
              </a:rPr>
              <a:t>heterogeneidade estatística</a:t>
            </a:r>
            <a:r>
              <a:rPr lang="pt-BR" sz="2000" b="0" i="0" dirty="0">
                <a:solidFill>
                  <a:srgbClr val="333333"/>
                </a:solidFill>
                <a:effectLst/>
                <a:latin typeface="Palatino Linotype" panose="02040502050505030304" pitchFamily="18" charset="0"/>
              </a:rPr>
              <a:t>, sendo consequência da diversidade clínica ou metodológica, ou ambos, entre os estudos. A heterogeneidade estatística se manifesta nos efeitos de intervenção observ</a:t>
            </a:r>
            <a:r>
              <a:rPr lang="pt-BR" sz="2000" dirty="0">
                <a:solidFill>
                  <a:srgbClr val="333333"/>
                </a:solidFill>
                <a:latin typeface="Palatino Linotype" panose="02040502050505030304" pitchFamily="18" charset="0"/>
              </a:rPr>
              <a:t>ados sendo mais diferentes uns dos outros do que se esperaria devido a erro aleatório (chance) sozinho. </a:t>
            </a:r>
            <a:endParaRPr lang="pt-BR" sz="2000" i="1" dirty="0">
              <a:latin typeface="Palatino Linotype" panose="02040502050505030304" pitchFamily="18" charset="0"/>
            </a:endParaRPr>
          </a:p>
          <a:p>
            <a:pPr algn="just"/>
            <a:endParaRPr lang="pt-BR" sz="2000" dirty="0">
              <a:solidFill>
                <a:srgbClr val="333333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692CB8D-C9EB-B2BB-1D66-674DF7681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726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960F8-C5E7-A735-D733-C5468AD82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904A9F5-71B9-F8F7-2B8A-F80E6919CFA0}"/>
              </a:ext>
            </a:extLst>
          </p:cNvPr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4D2DFE6-1748-FCF4-0978-D453D4A15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819E040-23BE-9BB2-49D1-DDF8C14EA7EC}"/>
              </a:ext>
            </a:extLst>
          </p:cNvPr>
          <p:cNvSpPr txBox="1"/>
          <p:nvPr/>
        </p:nvSpPr>
        <p:spPr>
          <a:xfrm>
            <a:off x="567339" y="2085184"/>
            <a:ext cx="102748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u="sng" dirty="0"/>
              <a:t>Decisões sobre heterogeneidade</a:t>
            </a:r>
          </a:p>
          <a:p>
            <a:r>
              <a:rPr lang="pt-BR" sz="3200" dirty="0"/>
              <a:t>I² &lt; 40% 		</a:t>
            </a:r>
            <a:r>
              <a:rPr lang="pt-BR" sz="3200" dirty="0">
                <a:sym typeface="Wingdings" panose="05000000000000000000" pitchFamily="2" charset="2"/>
              </a:rPr>
              <a:t> </a:t>
            </a:r>
            <a:r>
              <a:rPr lang="pt-BR" sz="3200" dirty="0"/>
              <a:t>Efeito FIXO</a:t>
            </a:r>
          </a:p>
          <a:p>
            <a:r>
              <a:rPr lang="pt-BR" sz="3200" dirty="0"/>
              <a:t>I² = 40% - 60% 	</a:t>
            </a:r>
            <a:r>
              <a:rPr lang="pt-BR" sz="3200" dirty="0">
                <a:sym typeface="Wingdings" panose="05000000000000000000" pitchFamily="2" charset="2"/>
              </a:rPr>
              <a:t> Análise de </a:t>
            </a:r>
            <a:r>
              <a:rPr lang="pt-BR" sz="3200" dirty="0"/>
              <a:t>Sensibilidade</a:t>
            </a:r>
          </a:p>
          <a:p>
            <a:r>
              <a:rPr lang="pt-BR" sz="3200" dirty="0"/>
              <a:t>I² &gt; 60% 		</a:t>
            </a:r>
            <a:r>
              <a:rPr lang="pt-BR" sz="3200" dirty="0">
                <a:sym typeface="Wingdings" panose="05000000000000000000" pitchFamily="2" charset="2"/>
              </a:rPr>
              <a:t> </a:t>
            </a:r>
            <a:r>
              <a:rPr lang="pt-BR" sz="3200" dirty="0"/>
              <a:t>Efeito ALEATÓRIO </a:t>
            </a:r>
          </a:p>
          <a:p>
            <a:r>
              <a:rPr lang="pt-BR" sz="3200" dirty="0"/>
              <a:t>Dúvida 		</a:t>
            </a:r>
            <a:r>
              <a:rPr lang="pt-BR" sz="3200" dirty="0">
                <a:sym typeface="Wingdings" panose="05000000000000000000" pitchFamily="2" charset="2"/>
              </a:rPr>
              <a:t> Efeito ALEATÓRIO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073041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0" y="1013012"/>
            <a:ext cx="3505200" cy="36933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800" dirty="0"/>
              <a:t>Viés/Assimetria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32BAE55D-230D-01BE-5EC2-4BE16586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2" y="2269850"/>
            <a:ext cx="83343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588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71B85-E085-A6DF-3EA4-6F7F9E44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A85BF-D5EF-6332-4136-E11668088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785"/>
            <a:ext cx="12192000" cy="852227"/>
          </a:xfrm>
        </p:spPr>
        <p:txBody>
          <a:bodyPr anchor="t">
            <a:noAutofit/>
          </a:bodyPr>
          <a:lstStyle/>
          <a:p>
            <a:r>
              <a:rPr lang="pt-BR" sz="4400" b="1" dirty="0">
                <a:solidFill>
                  <a:schemeClr val="bg2">
                    <a:lumMod val="25000"/>
                  </a:schemeClr>
                </a:solidFill>
                <a:latin typeface="Palatino Linotype" panose="02040502050505030304" pitchFamily="18" charset="0"/>
              </a:rPr>
              <a:t>Passo 6: Metanálise</a:t>
            </a:r>
            <a:endParaRPr lang="pt-BR" sz="4400" i="1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1E4EF16-A884-6390-F3F3-EB880FE6812E}"/>
              </a:ext>
            </a:extLst>
          </p:cNvPr>
          <p:cNvSpPr txBox="1"/>
          <p:nvPr/>
        </p:nvSpPr>
        <p:spPr>
          <a:xfrm>
            <a:off x="654424" y="190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13C5FC9-12A4-3A52-EDED-602B5DB6245C}"/>
              </a:ext>
            </a:extLst>
          </p:cNvPr>
          <p:cNvSpPr/>
          <p:nvPr/>
        </p:nvSpPr>
        <p:spPr>
          <a:xfrm>
            <a:off x="0" y="1013012"/>
            <a:ext cx="3505200" cy="36933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800" dirty="0"/>
              <a:t>Viés/Assimetria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5F7D7D-CAC9-1C67-3383-76EC54EA7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100" y="1760800"/>
            <a:ext cx="9494499" cy="453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118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40E7C7AB-8EE4-0692-987C-1FC5FAFA6E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407182"/>
              </p:ext>
            </p:extLst>
          </p:nvPr>
        </p:nvGraphicFramePr>
        <p:xfrm>
          <a:off x="359228" y="1053737"/>
          <a:ext cx="11571516" cy="4835388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928586">
                  <a:extLst>
                    <a:ext uri="{9D8B030D-6E8A-4147-A177-3AD203B41FA5}">
                      <a16:colId xmlns:a16="http://schemas.microsoft.com/office/drawing/2014/main" val="3400529737"/>
                    </a:ext>
                  </a:extLst>
                </a:gridCol>
                <a:gridCol w="1928586">
                  <a:extLst>
                    <a:ext uri="{9D8B030D-6E8A-4147-A177-3AD203B41FA5}">
                      <a16:colId xmlns:a16="http://schemas.microsoft.com/office/drawing/2014/main" val="3008501200"/>
                    </a:ext>
                  </a:extLst>
                </a:gridCol>
                <a:gridCol w="1928586">
                  <a:extLst>
                    <a:ext uri="{9D8B030D-6E8A-4147-A177-3AD203B41FA5}">
                      <a16:colId xmlns:a16="http://schemas.microsoft.com/office/drawing/2014/main" val="1988279914"/>
                    </a:ext>
                  </a:extLst>
                </a:gridCol>
                <a:gridCol w="1928586">
                  <a:extLst>
                    <a:ext uri="{9D8B030D-6E8A-4147-A177-3AD203B41FA5}">
                      <a16:colId xmlns:a16="http://schemas.microsoft.com/office/drawing/2014/main" val="136457806"/>
                    </a:ext>
                  </a:extLst>
                </a:gridCol>
                <a:gridCol w="1928586">
                  <a:extLst>
                    <a:ext uri="{9D8B030D-6E8A-4147-A177-3AD203B41FA5}">
                      <a16:colId xmlns:a16="http://schemas.microsoft.com/office/drawing/2014/main" val="1541746584"/>
                    </a:ext>
                  </a:extLst>
                </a:gridCol>
                <a:gridCol w="1928586">
                  <a:extLst>
                    <a:ext uri="{9D8B030D-6E8A-4147-A177-3AD203B41FA5}">
                      <a16:colId xmlns:a16="http://schemas.microsoft.com/office/drawing/2014/main" val="1318840815"/>
                    </a:ext>
                  </a:extLst>
                </a:gridCol>
              </a:tblGrid>
              <a:tr h="450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latin typeface="Palatino Linotype" panose="02040502050505030304" pitchFamily="18" charset="0"/>
                        </a:rPr>
                        <a:t>Tipo de Metanálise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latin typeface="Palatino Linotype" panose="02040502050505030304" pitchFamily="18" charset="0"/>
                        </a:rPr>
                        <a:t>Tipo de Dado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 err="1">
                          <a:latin typeface="Palatino Linotype" panose="02040502050505030304" pitchFamily="18" charset="0"/>
                        </a:rPr>
                        <a:t>Effect</a:t>
                      </a:r>
                      <a:r>
                        <a:rPr lang="pt-BR" b="1" dirty="0"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pt-BR" b="1" dirty="0" err="1">
                          <a:latin typeface="Palatino Linotype" panose="02040502050505030304" pitchFamily="18" charset="0"/>
                        </a:rPr>
                        <a:t>Size</a:t>
                      </a:r>
                      <a:endParaRPr lang="pt-BR" b="1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latin typeface="Palatino Linotype" panose="02040502050505030304" pitchFamily="18" charset="0"/>
                        </a:rPr>
                        <a:t>Quando Usar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latin typeface="Palatino Linotype" panose="02040502050505030304" pitchFamily="18" charset="0"/>
                        </a:rPr>
                        <a:t>Exemplo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latin typeface="Palatino Linotype" panose="02040502050505030304" pitchFamily="18" charset="0"/>
                        </a:rPr>
                        <a:t>Interpretação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240202"/>
                  </a:ext>
                </a:extLst>
              </a:tr>
              <a:tr h="788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latin typeface="Palatino Linotype" panose="02040502050505030304" pitchFamily="18" charset="0"/>
                        </a:rPr>
                        <a:t>Dados Dicotômicos</a:t>
                      </a:r>
                      <a:endParaRPr lang="pt-BR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Binário (sim/não)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RR, OR, 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Desfecho categórico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Normalização PA (sim/não) 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RD = 43,3% a mais normalizam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451632"/>
                  </a:ext>
                </a:extLst>
              </a:tr>
              <a:tr h="788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latin typeface="Palatino Linotype" panose="02040502050505030304" pitchFamily="18" charset="0"/>
                        </a:rPr>
                        <a:t>Dados Contínuos</a:t>
                      </a:r>
                      <a:endParaRPr lang="pt-BR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Numérico contínuo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MD, SMD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Desfecho em escala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Redução PAS (mmHg) 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Redução PAS: -9,5 mmHg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164459"/>
                  </a:ext>
                </a:extLst>
              </a:tr>
              <a:tr h="788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latin typeface="Palatino Linotype" panose="02040502050505030304" pitchFamily="18" charset="0"/>
                        </a:rPr>
                        <a:t>Tempo-até-evento</a:t>
                      </a:r>
                      <a:endParaRPr lang="pt-BR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Sobrevida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Desfechos com tempo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Tempo até AVC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HR=0,75 [0,60-0,94] 25% ↓ risco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537413"/>
                  </a:ext>
                </a:extLst>
              </a:tr>
              <a:tr h="788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latin typeface="Palatino Linotype" panose="02040502050505030304" pitchFamily="18" charset="0"/>
                        </a:rPr>
                        <a:t>Correlação</a:t>
                      </a:r>
                      <a:endParaRPr lang="pt-BR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Associação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r, 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Estudos de correlação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PA </a:t>
                      </a:r>
                      <a:r>
                        <a:rPr lang="pt-BR" dirty="0" err="1">
                          <a:latin typeface="Palatino Linotype" panose="02040502050505030304" pitchFamily="18" charset="0"/>
                        </a:rPr>
                        <a:t>vs</a:t>
                      </a:r>
                      <a:r>
                        <a:rPr lang="pt-BR" dirty="0">
                          <a:latin typeface="Palatino Linotype" panose="02040502050505030304" pitchFamily="18" charset="0"/>
                        </a:rPr>
                        <a:t> IMC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R= 0,887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026664"/>
                  </a:ext>
                </a:extLst>
              </a:tr>
              <a:tr h="788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>
                          <a:latin typeface="Palatino Linotype" panose="02040502050505030304" pitchFamily="18" charset="0"/>
                        </a:rPr>
                        <a:t>Diagnóstico</a:t>
                      </a:r>
                      <a:endParaRPr lang="pt-BR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Acurácia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Sens, Spec, 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latin typeface="Palatino Linotype" panose="02040502050505030304" pitchFamily="18" charset="0"/>
                        </a:rPr>
                        <a:t>Testes diagnósticos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Acurácia MAPA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AUC = 0,96</a:t>
                      </a:r>
                    </a:p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SENS = 85%</a:t>
                      </a:r>
                    </a:p>
                    <a:p>
                      <a:pPr>
                        <a:buNone/>
                      </a:pPr>
                      <a:r>
                        <a:rPr lang="pt-BR" dirty="0">
                          <a:latin typeface="Palatino Linotype" panose="02040502050505030304" pitchFamily="18" charset="0"/>
                        </a:rPr>
                        <a:t>ESP = 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9860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9007DA8-B99A-850C-2420-6B2C8E6BD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28" y="456966"/>
            <a:ext cx="40058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400" b="1" dirty="0">
                <a:latin typeface="Palatino Linotype" panose="02040502050505030304" pitchFamily="18" charset="0"/>
              </a:rPr>
              <a:t>METANÁLISES POR TIPO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9224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D7540-E527-702D-385E-64C0E795D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FFE1648E-A665-79EB-7AAE-ABFBC3186BE2}"/>
              </a:ext>
            </a:extLst>
          </p:cNvPr>
          <p:cNvSpPr txBox="1"/>
          <p:nvPr/>
        </p:nvSpPr>
        <p:spPr>
          <a:xfrm>
            <a:off x="446315" y="297550"/>
            <a:ext cx="40930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latin typeface="Palatino Linotype" panose="02040502050505030304" pitchFamily="18" charset="0"/>
              </a:rPr>
              <a:t>METANÁLISE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├─ DADOS DICOTÔMICOS (sim/não)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   ├─ ECR/Coorte → RR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   ├─ Caso-controle → OR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   └─ Relevância clínica → RD/NNT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├─ DADOS CONTÍNUOS (numérico)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   ├─ Mesma unidade → MD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   ├─    Unidades diferentes → SMD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       ├─ N&lt;20 → Hedges' g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       └─ N≥20 → </a:t>
            </a:r>
            <a:r>
              <a:rPr lang="pt-BR" sz="1600" dirty="0" err="1">
                <a:latin typeface="Palatino Linotype" panose="02040502050505030304" pitchFamily="18" charset="0"/>
              </a:rPr>
              <a:t>Cohen's</a:t>
            </a:r>
            <a:r>
              <a:rPr lang="pt-BR" sz="1600" dirty="0">
                <a:latin typeface="Palatino Linotype" panose="02040502050505030304" pitchFamily="18" charset="0"/>
              </a:rPr>
              <a:t> d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├─ TEMPO-ATÉ-EVENTO (sobrevida)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   └─ </a:t>
            </a:r>
            <a:r>
              <a:rPr lang="pt-BR" sz="1600" dirty="0" err="1">
                <a:latin typeface="Palatino Linotype" panose="02040502050505030304" pitchFamily="18" charset="0"/>
              </a:rPr>
              <a:t>Hazard</a:t>
            </a:r>
            <a:r>
              <a:rPr lang="pt-BR" sz="1600" dirty="0">
                <a:latin typeface="Palatino Linotype" panose="02040502050505030304" pitchFamily="18" charset="0"/>
              </a:rPr>
              <a:t> </a:t>
            </a:r>
            <a:r>
              <a:rPr lang="pt-BR" sz="1600" dirty="0" err="1">
                <a:latin typeface="Palatino Linotype" panose="02040502050505030304" pitchFamily="18" charset="0"/>
              </a:rPr>
              <a:t>Ratio</a:t>
            </a:r>
            <a:r>
              <a:rPr lang="pt-BR" sz="1600" dirty="0">
                <a:latin typeface="Palatino Linotype" panose="02040502050505030304" pitchFamily="18" charset="0"/>
              </a:rPr>
              <a:t> (HR)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├─ DIAGNÓSTICO (acurácia)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   ├─ Sensibilidade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   ├─ Especificidade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│      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└─ ESPECIAIS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    ├─ Dose-resposta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    ├─ Network (múltiplas intervenções)</a:t>
            </a:r>
          </a:p>
          <a:p>
            <a:r>
              <a:rPr lang="pt-BR" sz="1600" dirty="0">
                <a:latin typeface="Palatino Linotype" panose="02040502050505030304" pitchFamily="18" charset="0"/>
              </a:rPr>
              <a:t>        └─ IPD (dados individuais)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6BA5532-7960-9594-B339-6C902D9616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467" t="27070" r="6133" b="21720"/>
          <a:stretch>
            <a:fillRect/>
          </a:stretch>
        </p:blipFill>
        <p:spPr>
          <a:xfrm>
            <a:off x="6096000" y="1832126"/>
            <a:ext cx="5052796" cy="3193748"/>
          </a:xfrm>
          <a:prstGeom prst="rect">
            <a:avLst/>
          </a:prstGeom>
          <a:solidFill>
            <a:srgbClr val="FFF2E5"/>
          </a:solidFill>
        </p:spPr>
      </p:pic>
    </p:spTree>
    <p:extLst>
      <p:ext uri="{BB962C8B-B14F-4D97-AF65-F5344CB8AC3E}">
        <p14:creationId xmlns:p14="http://schemas.microsoft.com/office/powerpoint/2010/main" val="5844479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6D93C-C077-3497-692B-84684673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9E16D14-B4E7-D56C-0B9C-37BB4DD74BDB}"/>
              </a:ext>
            </a:extLst>
          </p:cNvPr>
          <p:cNvSpPr txBox="1"/>
          <p:nvPr/>
        </p:nvSpPr>
        <p:spPr>
          <a:xfrm>
            <a:off x="490339" y="431067"/>
            <a:ext cx="2769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Obrigado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48B550F-7067-7354-F67C-05F02AC57759}"/>
              </a:ext>
            </a:extLst>
          </p:cNvPr>
          <p:cNvSpPr txBox="1"/>
          <p:nvPr/>
        </p:nvSpPr>
        <p:spPr>
          <a:xfrm>
            <a:off x="490339" y="2213282"/>
            <a:ext cx="998171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Timothy Cavazzotto, PhD</a:t>
            </a:r>
          </a:p>
          <a:p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Studio </a:t>
            </a:r>
            <a:r>
              <a:rPr lang="pt-BR" sz="2800" b="1" dirty="0" err="1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Mets</a:t>
            </a: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 </a:t>
            </a:r>
            <a:r>
              <a:rPr lang="pt-BR" sz="2800" dirty="0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– Exercício clínico personalizado</a:t>
            </a:r>
          </a:p>
          <a:p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Metthods Analytics </a:t>
            </a:r>
            <a:r>
              <a:rPr lang="pt-BR" sz="2800" dirty="0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– Ciência de dados</a:t>
            </a:r>
          </a:p>
          <a:p>
            <a:r>
              <a:rPr lang="pt-BR" sz="2800" b="1" dirty="0" err="1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Noua</a:t>
            </a:r>
            <a:r>
              <a:rPr lang="pt-BR" sz="2800" dirty="0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 – Emagrecimento de Precisão</a:t>
            </a:r>
          </a:p>
          <a:p>
            <a:r>
              <a:rPr lang="pt-BR" sz="2800" b="1" dirty="0" err="1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MedWeav</a:t>
            </a:r>
            <a:r>
              <a:rPr lang="pt-BR" sz="2800" dirty="0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</a:rPr>
              <a:t> – Comunidade Médica de Publicação Científica</a:t>
            </a:r>
          </a:p>
        </p:txBody>
      </p:sp>
    </p:spTree>
    <p:extLst>
      <p:ext uri="{BB962C8B-B14F-4D97-AF65-F5344CB8AC3E}">
        <p14:creationId xmlns:p14="http://schemas.microsoft.com/office/powerpoint/2010/main" val="33441734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10645</TotalTime>
  <Words>2507</Words>
  <Application>Microsoft Office PowerPoint</Application>
  <PresentationFormat>Widescreen</PresentationFormat>
  <Paragraphs>783</Paragraphs>
  <Slides>43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0" baseType="lpstr">
      <vt:lpstr>Aptos</vt:lpstr>
      <vt:lpstr>Aptos Display</vt:lpstr>
      <vt:lpstr>Arial</vt:lpstr>
      <vt:lpstr>Palatino Linotype</vt:lpstr>
      <vt:lpstr>Source Sans Pro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Solução: Revisão Sistemática com Metanálise</vt:lpstr>
      <vt:lpstr>Revisão Sistemática com Metanálise</vt:lpstr>
      <vt:lpstr>Oque é uma RSMA?</vt:lpstr>
      <vt:lpstr>Passo 1: Definindo a pergunta</vt:lpstr>
      <vt:lpstr>Passo 1: Definindo a pergunta</vt:lpstr>
      <vt:lpstr>Passo 2: Construindo a estratégia de busca</vt:lpstr>
      <vt:lpstr>Passo 2: Construindo a estratégia de busca</vt:lpstr>
      <vt:lpstr>Apresentação do PowerPoint</vt:lpstr>
      <vt:lpstr>Passo 2: Realizando a busca &gt; 5 bases</vt:lpstr>
      <vt:lpstr>Passo 3: Seleção dos Artigos</vt:lpstr>
      <vt:lpstr>Passo 3: Seleção dos Artigos</vt:lpstr>
      <vt:lpstr>Passo 3: Seleção dos Artigos</vt:lpstr>
      <vt:lpstr>Passo 4: Avaliar os Artigos</vt:lpstr>
      <vt:lpstr>Passo 4: Avaliar os Artigos</vt:lpstr>
      <vt:lpstr>Passo 4: Avaliar os Artigos</vt:lpstr>
      <vt:lpstr>Passo 4: Avaliar os Artigos</vt:lpstr>
      <vt:lpstr>Passo 5: Resumir estatisticamente</vt:lpstr>
      <vt:lpstr>Passo 5: Extração dos dados</vt:lpstr>
      <vt:lpstr>Passo 5: Extração dos dados</vt:lpstr>
      <vt:lpstr>Passo 5: Extração dos dados</vt:lpstr>
      <vt:lpstr>Passo 5: Extração dos dados</vt:lpstr>
      <vt:lpstr>Passo 5: Extração dos dados</vt:lpstr>
      <vt:lpstr>Passo 6: Metanálise</vt:lpstr>
      <vt:lpstr>Passo 6: Metanálise</vt:lpstr>
      <vt:lpstr>Passo 6: Metanálise</vt:lpstr>
      <vt:lpstr>Passo 6: Metanálise</vt:lpstr>
      <vt:lpstr>Passo 6: Metanálise</vt:lpstr>
      <vt:lpstr>Passo 6: Metanálise</vt:lpstr>
      <vt:lpstr>Passo 6: Metanálise</vt:lpstr>
      <vt:lpstr>Passo 6: Metanálise</vt:lpstr>
      <vt:lpstr>Passo 6: Metanálise</vt:lpstr>
      <vt:lpstr>Passo 6: Metanálise</vt:lpstr>
      <vt:lpstr>Passo 6: Metanálise</vt:lpstr>
      <vt:lpstr>Passo 6: Metanálise</vt:lpstr>
      <vt:lpstr>Passo 6: Metanálise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Cavazzotto</dc:creator>
  <cp:lastModifiedBy>Timothy Cavazzotto</cp:lastModifiedBy>
  <cp:revision>38</cp:revision>
  <dcterms:created xsi:type="dcterms:W3CDTF">2025-11-13T18:52:02Z</dcterms:created>
  <dcterms:modified xsi:type="dcterms:W3CDTF">2026-08-17T20:09:06Z</dcterms:modified>
</cp:coreProperties>
</file>